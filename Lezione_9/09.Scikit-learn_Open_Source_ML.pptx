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3" r:id="rId2"/>
    <p:sldId id="257" r:id="rId3"/>
    <p:sldId id="258" r:id="rId4"/>
    <p:sldId id="259" r:id="rId5"/>
    <p:sldId id="260" r:id="rId6"/>
    <p:sldId id="261" r:id="rId7"/>
    <p:sldId id="285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84" r:id="rId17"/>
    <p:sldId id="271" r:id="rId18"/>
    <p:sldId id="286" r:id="rId19"/>
    <p:sldId id="270" r:id="rId20"/>
    <p:sldId id="272" r:id="rId21"/>
    <p:sldId id="273" r:id="rId22"/>
    <p:sldId id="274" r:id="rId23"/>
    <p:sldId id="287" r:id="rId24"/>
    <p:sldId id="275" r:id="rId25"/>
    <p:sldId id="288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6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8" d="100"/>
          <a:sy n="128" d="100"/>
        </p:scale>
        <p:origin x="450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  <p:pic>
        <p:nvPicPr>
          <p:cNvPr id="8" name="Immagine 7" descr="Immagine che contiene Elementi grafici, Policromia, arte, cerchio&#10;&#10;Il contenuto generato dall'IA potrebbe non essere corretto.">
            <a:extLst>
              <a:ext uri="{FF2B5EF4-FFF2-40B4-BE49-F238E27FC236}">
                <a16:creationId xmlns:a16="http://schemas.microsoft.com/office/drawing/2014/main" id="{171D4E11-66F5-8D0C-6337-D9A21632E6A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333" y="92076"/>
            <a:ext cx="365126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57200"/>
            <a:ext cx="8229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38BDF8"/>
                </a:solidFill>
              </a:defRPr>
            </a:pPr>
            <a:r>
              <a:rPr lang="it-IT" dirty="0"/>
              <a:t>Scikit-learn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5124" y="2390400"/>
            <a:ext cx="621375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BD5E1"/>
                </a:solidFill>
              </a:defRPr>
            </a:pPr>
            <a:r>
              <a:rPr lang="en-US" dirty="0"/>
              <a:t>Machine Learning Open Source in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23241" y="3023490"/>
            <a:ext cx="169751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rPr lang="it-IT" dirty="0"/>
              <a:t>Esempi Pratici &amp; Esercizi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6A01088-BF09-9E87-F45F-E29C62EF4EEB}"/>
              </a:ext>
            </a:extLst>
          </p:cNvPr>
          <p:cNvSpPr/>
          <p:nvPr/>
        </p:nvSpPr>
        <p:spPr>
          <a:xfrm>
            <a:off x="2588754" y="522631"/>
            <a:ext cx="396634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it-IT" sz="1050" dirty="0">
                <a:solidFill>
                  <a:srgbClr val="94A3B8"/>
                </a:solidFill>
                <a:latin typeface="+mj-lt"/>
                <a:ea typeface="Arial" pitchFamily="34" charset="-122"/>
                <a:cs typeface="Arial" pitchFamily="34" charset="-120"/>
              </a:rPr>
              <a:t>SVILUPPO APPLICAZIONI E ANALISI DATI CON PYTHON</a:t>
            </a:r>
            <a:endParaRPr lang="en-US" sz="1050" dirty="0">
              <a:latin typeface="+mj-lt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FDDAA4C-BF04-28D3-246D-B441D2A0415F}"/>
              </a:ext>
            </a:extLst>
          </p:cNvPr>
          <p:cNvSpPr/>
          <p:nvPr/>
        </p:nvSpPr>
        <p:spPr>
          <a:xfrm>
            <a:off x="322096" y="4634200"/>
            <a:ext cx="175054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 err="1">
                <a:solidFill>
                  <a:srgbClr val="94A3B8"/>
                </a:solidFill>
                <a:ea typeface="Arial" pitchFamily="34" charset="-122"/>
                <a:cs typeface="Arial" pitchFamily="34" charset="-120"/>
              </a:rPr>
              <a:t>Docente</a:t>
            </a:r>
            <a:r>
              <a:rPr lang="en-US" sz="1050" dirty="0">
                <a:solidFill>
                  <a:srgbClr val="94A3B8"/>
                </a:solidFill>
                <a:ea typeface="Arial" pitchFamily="34" charset="-122"/>
                <a:cs typeface="Arial" pitchFamily="34" charset="-120"/>
              </a:rPr>
              <a:t>: Marino Speciale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</a:defRPr>
            </a:pPr>
            <a:r>
              <a:rPr sz="3200" dirty="0" err="1"/>
              <a:t>Indice</a:t>
            </a:r>
            <a:r>
              <a:rPr sz="3200" dirty="0"/>
              <a:t> della </a:t>
            </a:r>
            <a:r>
              <a:rPr sz="3200" dirty="0" err="1"/>
              <a:t>Lezione</a:t>
            </a:r>
            <a:endParaRPr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886370"/>
            <a:ext cx="8046720" cy="3611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>
                <a:solidFill>
                  <a:srgbClr val="CBD5E1"/>
                </a:solidFill>
              </a:defRPr>
            </a:pPr>
            <a:r>
              <a:rPr sz="1600" dirty="0" err="1">
                <a:solidFill>
                  <a:srgbClr val="CBD5E1"/>
                </a:solidFill>
              </a:rPr>
              <a:t>Introduzione</a:t>
            </a:r>
            <a:r>
              <a:rPr sz="1600" dirty="0">
                <a:solidFill>
                  <a:srgbClr val="CBD5E1"/>
                </a:solidFill>
              </a:rPr>
              <a:t>: </a:t>
            </a:r>
            <a:r>
              <a:rPr sz="1600" dirty="0" err="1">
                <a:solidFill>
                  <a:srgbClr val="CBD5E1"/>
                </a:solidFill>
              </a:rPr>
              <a:t>Architettura</a:t>
            </a:r>
            <a:r>
              <a:rPr sz="1600" dirty="0">
                <a:solidFill>
                  <a:srgbClr val="CBD5E1"/>
                </a:solidFill>
              </a:rPr>
              <a:t> e API</a:t>
            </a:r>
            <a:r>
              <a:rPr lang="it-IT" sz="1600" dirty="0">
                <a:solidFill>
                  <a:srgbClr val="CBD5E1"/>
                </a:solidFill>
              </a:rPr>
              <a:t> (</a:t>
            </a:r>
            <a:r>
              <a:rPr lang="en-US" sz="1600" dirty="0">
                <a:solidFill>
                  <a:srgbClr val="CBD5E1"/>
                </a:solidFill>
              </a:rPr>
              <a:t>Workflow: Estimator, Fit, Predict, Score)</a:t>
            </a:r>
            <a:endParaRPr sz="1600" dirty="0">
              <a:solidFill>
                <a:srgbClr val="CBD5E1"/>
              </a:solidFill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>
                <a:solidFill>
                  <a:srgbClr val="CBD5E1"/>
                </a:solidFill>
              </a:defRPr>
            </a:pPr>
            <a:r>
              <a:rPr sz="1600" dirty="0" err="1">
                <a:solidFill>
                  <a:srgbClr val="CBD5E1"/>
                </a:solidFill>
              </a:rPr>
              <a:t>Preparazione</a:t>
            </a:r>
            <a:r>
              <a:rPr sz="1600" dirty="0">
                <a:solidFill>
                  <a:srgbClr val="CBD5E1"/>
                </a:solidFill>
              </a:rPr>
              <a:t> </a:t>
            </a:r>
            <a:r>
              <a:rPr sz="1600" dirty="0" err="1">
                <a:solidFill>
                  <a:srgbClr val="CBD5E1"/>
                </a:solidFill>
              </a:rPr>
              <a:t>dati</a:t>
            </a:r>
            <a:r>
              <a:rPr sz="1600" dirty="0">
                <a:solidFill>
                  <a:srgbClr val="CBD5E1"/>
                </a:solidFill>
              </a:rPr>
              <a:t>: Dataset, </a:t>
            </a:r>
            <a:r>
              <a:rPr lang="it-IT" sz="1600" dirty="0">
                <a:solidFill>
                  <a:srgbClr val="CBD5E1"/>
                </a:solidFill>
              </a:rPr>
              <a:t>Train-Test Split</a:t>
            </a:r>
            <a:r>
              <a:rPr sz="1600" dirty="0">
                <a:solidFill>
                  <a:srgbClr val="CBD5E1"/>
                </a:solidFill>
              </a:rPr>
              <a:t>, Preprocessing</a:t>
            </a: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>
                <a:solidFill>
                  <a:srgbClr val="CBD5E1"/>
                </a:solidFill>
              </a:defRPr>
            </a:pPr>
            <a:r>
              <a:rPr sz="1600" dirty="0" err="1">
                <a:solidFill>
                  <a:srgbClr val="CBD5E1"/>
                </a:solidFill>
              </a:rPr>
              <a:t>Esercizio</a:t>
            </a:r>
            <a:r>
              <a:rPr sz="1600" dirty="0">
                <a:solidFill>
                  <a:srgbClr val="CBD5E1"/>
                </a:solidFill>
              </a:rPr>
              <a:t> 1: </a:t>
            </a:r>
            <a:r>
              <a:rPr sz="1600" dirty="0" err="1">
                <a:solidFill>
                  <a:srgbClr val="CBD5E1"/>
                </a:solidFill>
              </a:rPr>
              <a:t>Classificazione</a:t>
            </a:r>
            <a:r>
              <a:rPr sz="1600" dirty="0">
                <a:solidFill>
                  <a:srgbClr val="CBD5E1"/>
                </a:solidFill>
              </a:rPr>
              <a:t> Iris (Decision Tree → Random Forest)</a:t>
            </a: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>
                <a:solidFill>
                  <a:srgbClr val="CBD5E1"/>
                </a:solidFill>
              </a:defRPr>
            </a:pPr>
            <a:r>
              <a:rPr sz="1600" dirty="0">
                <a:solidFill>
                  <a:srgbClr val="CBD5E1"/>
                </a:solidFill>
              </a:rPr>
              <a:t>Pipeline e </a:t>
            </a:r>
            <a:r>
              <a:rPr sz="1600" dirty="0" err="1">
                <a:solidFill>
                  <a:srgbClr val="CBD5E1"/>
                </a:solidFill>
              </a:rPr>
              <a:t>FeatureUnion</a:t>
            </a:r>
            <a:r>
              <a:rPr sz="1600" dirty="0">
                <a:solidFill>
                  <a:srgbClr val="CBD5E1"/>
                </a:solidFill>
              </a:rPr>
              <a:t>: </a:t>
            </a:r>
            <a:r>
              <a:rPr sz="1600" dirty="0" err="1">
                <a:solidFill>
                  <a:srgbClr val="CBD5E1"/>
                </a:solidFill>
              </a:rPr>
              <a:t>Automatizzare</a:t>
            </a:r>
            <a:r>
              <a:rPr sz="1600" dirty="0">
                <a:solidFill>
                  <a:srgbClr val="CBD5E1"/>
                </a:solidFill>
              </a:rPr>
              <a:t> il workflow</a:t>
            </a: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>
                <a:solidFill>
                  <a:srgbClr val="CBD5E1"/>
                </a:solidFill>
              </a:defRPr>
            </a:pPr>
            <a:r>
              <a:rPr sz="1600" dirty="0" err="1">
                <a:solidFill>
                  <a:srgbClr val="CBD5E1"/>
                </a:solidFill>
              </a:rPr>
              <a:t>Esercizio</a:t>
            </a:r>
            <a:r>
              <a:rPr sz="1600" dirty="0">
                <a:solidFill>
                  <a:srgbClr val="CBD5E1"/>
                </a:solidFill>
              </a:rPr>
              <a:t> 2: Titanic - Preprocessing + </a:t>
            </a:r>
            <a:r>
              <a:rPr sz="1600" dirty="0" err="1">
                <a:solidFill>
                  <a:srgbClr val="CBD5E1"/>
                </a:solidFill>
              </a:rPr>
              <a:t>Classificazione</a:t>
            </a:r>
            <a:endParaRPr sz="1600" dirty="0">
              <a:solidFill>
                <a:srgbClr val="CBD5E1"/>
              </a:solidFill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>
                <a:solidFill>
                  <a:srgbClr val="CBD5E1"/>
                </a:solidFill>
              </a:defRPr>
            </a:pPr>
            <a:r>
              <a:rPr sz="1600" dirty="0">
                <a:solidFill>
                  <a:srgbClr val="CBD5E1"/>
                </a:solidFill>
              </a:rPr>
              <a:t>Model Evaluation </a:t>
            </a:r>
            <a:r>
              <a:rPr sz="1600" dirty="0" err="1">
                <a:solidFill>
                  <a:srgbClr val="CBD5E1"/>
                </a:solidFill>
              </a:rPr>
              <a:t>avanzata</a:t>
            </a:r>
            <a:r>
              <a:rPr sz="1600" dirty="0">
                <a:solidFill>
                  <a:srgbClr val="CBD5E1"/>
                </a:solidFill>
              </a:rPr>
              <a:t>: </a:t>
            </a:r>
            <a:r>
              <a:rPr lang="it-IT" sz="1600" dirty="0">
                <a:solidFill>
                  <a:srgbClr val="CBD5E1"/>
                </a:solidFill>
              </a:rPr>
              <a:t>Metriche, </a:t>
            </a:r>
            <a:r>
              <a:rPr sz="1600" dirty="0">
                <a:solidFill>
                  <a:srgbClr val="CBD5E1"/>
                </a:solidFill>
              </a:rPr>
              <a:t>ROC curves</a:t>
            </a:r>
            <a:r>
              <a:rPr lang="it-IT" sz="1600" dirty="0">
                <a:solidFill>
                  <a:srgbClr val="CBD5E1"/>
                </a:solidFill>
              </a:rPr>
              <a:t> e</a:t>
            </a:r>
            <a:r>
              <a:rPr sz="1600" dirty="0">
                <a:solidFill>
                  <a:srgbClr val="CBD5E1"/>
                </a:solidFill>
              </a:rPr>
              <a:t> Confusion Matrix</a:t>
            </a:r>
            <a:endParaRPr lang="it-IT" sz="1600" dirty="0">
              <a:solidFill>
                <a:srgbClr val="CBD5E1"/>
              </a:solidFill>
            </a:endParaRPr>
          </a:p>
          <a:p>
            <a:pPr marL="269875" indent="-269875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>
                <a:solidFill>
                  <a:srgbClr val="CBD5E1"/>
                </a:solidFill>
              </a:defRPr>
            </a:pPr>
            <a:r>
              <a:rPr lang="it-IT" sz="1600" dirty="0">
                <a:solidFill>
                  <a:srgbClr val="CBD5E1"/>
                </a:solidFill>
              </a:rPr>
              <a:t>Feature </a:t>
            </a:r>
            <a:r>
              <a:rPr lang="it-IT" sz="1600" dirty="0" err="1">
                <a:solidFill>
                  <a:srgbClr val="CBD5E1"/>
                </a:solidFill>
              </a:rPr>
              <a:t>Importance</a:t>
            </a:r>
            <a:r>
              <a:rPr lang="it-IT" sz="1600" dirty="0">
                <a:solidFill>
                  <a:srgbClr val="CBD5E1"/>
                </a:solidFill>
              </a:rPr>
              <a:t> &amp; Feature </a:t>
            </a:r>
            <a:r>
              <a:rPr lang="it-IT" sz="1600" dirty="0" err="1">
                <a:solidFill>
                  <a:srgbClr val="CBD5E1"/>
                </a:solidFill>
              </a:rPr>
              <a:t>Selection</a:t>
            </a:r>
            <a:r>
              <a:rPr sz="1600" dirty="0">
                <a:solidFill>
                  <a:srgbClr val="CBD5E1"/>
                </a:solidFill>
              </a:rPr>
              <a:t> </a:t>
            </a: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>
                <a:solidFill>
                  <a:srgbClr val="CBD5E1"/>
                </a:solidFill>
              </a:defRPr>
            </a:pPr>
            <a:r>
              <a:rPr sz="1600" dirty="0" err="1">
                <a:solidFill>
                  <a:srgbClr val="CBD5E1"/>
                </a:solidFill>
              </a:rPr>
              <a:t>Esercizio</a:t>
            </a:r>
            <a:r>
              <a:rPr sz="1600" dirty="0">
                <a:solidFill>
                  <a:srgbClr val="CBD5E1"/>
                </a:solidFill>
              </a:rPr>
              <a:t> 3: Feature Engineering + Hyperparameter Tuning</a:t>
            </a:r>
            <a:endParaRPr lang="it-IT" sz="1600" dirty="0">
              <a:solidFill>
                <a:srgbClr val="CBD5E1"/>
              </a:solidFill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>
                <a:solidFill>
                  <a:srgbClr val="CBD5E1"/>
                </a:solidFill>
              </a:defRPr>
            </a:pPr>
            <a:r>
              <a:rPr lang="it-IT" sz="1600" dirty="0">
                <a:solidFill>
                  <a:srgbClr val="CBD5E1"/>
                </a:solidFill>
              </a:rPr>
              <a:t>Tecniche di </a:t>
            </a:r>
            <a:r>
              <a:rPr lang="it-IT" sz="1600" dirty="0" err="1">
                <a:solidFill>
                  <a:srgbClr val="CBD5E1"/>
                </a:solidFill>
              </a:rPr>
              <a:t>validazionee</a:t>
            </a:r>
            <a:r>
              <a:rPr lang="it-IT" sz="1600" dirty="0">
                <a:solidFill>
                  <a:srgbClr val="CBD5E1"/>
                </a:solidFill>
              </a:rPr>
              <a:t> del Modello: Cross-Validate, K-</a:t>
            </a:r>
            <a:r>
              <a:rPr lang="it-IT" sz="1600" dirty="0" err="1">
                <a:solidFill>
                  <a:srgbClr val="CBD5E1"/>
                </a:solidFill>
              </a:rPr>
              <a:t>Fold</a:t>
            </a:r>
            <a:r>
              <a:rPr lang="it-IT" sz="1600" dirty="0">
                <a:solidFill>
                  <a:srgbClr val="CBD5E1"/>
                </a:solidFill>
              </a:rPr>
              <a:t> e </a:t>
            </a:r>
            <a:r>
              <a:rPr lang="it-IT" sz="1600" dirty="0" err="1">
                <a:solidFill>
                  <a:srgbClr val="CBD5E1"/>
                </a:solidFill>
              </a:rPr>
              <a:t>StratifiedFold</a:t>
            </a:r>
            <a:endParaRPr lang="it-IT" sz="1600" dirty="0">
              <a:solidFill>
                <a:srgbClr val="CBD5E1"/>
              </a:solidFill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>
                <a:solidFill>
                  <a:srgbClr val="CBD5E1"/>
                </a:solidFill>
              </a:defRPr>
            </a:pPr>
            <a:r>
              <a:rPr lang="it-IT" sz="1600" dirty="0" err="1">
                <a:solidFill>
                  <a:srgbClr val="CBD5E1"/>
                </a:solidFill>
              </a:rPr>
              <a:t>GridSearchCV</a:t>
            </a:r>
            <a:r>
              <a:rPr lang="it-IT" sz="1600" dirty="0">
                <a:solidFill>
                  <a:srgbClr val="CBD5E1"/>
                </a:solidFill>
              </a:rPr>
              <a:t>: </a:t>
            </a:r>
            <a:r>
              <a:rPr lang="it-IT" sz="1600" dirty="0" err="1">
                <a:solidFill>
                  <a:srgbClr val="CBD5E1"/>
                </a:solidFill>
              </a:rPr>
              <a:t>Hyperparameter</a:t>
            </a:r>
            <a:r>
              <a:rPr lang="it-IT" sz="1600" dirty="0">
                <a:solidFill>
                  <a:srgbClr val="CBD5E1"/>
                </a:solidFill>
              </a:rPr>
              <a:t> Tuning</a:t>
            </a: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>
                <a:solidFill>
                  <a:srgbClr val="CBD5E1"/>
                </a:solidFill>
              </a:defRPr>
            </a:pPr>
            <a:r>
              <a:rPr lang="it-IT" sz="1600" dirty="0">
                <a:solidFill>
                  <a:srgbClr val="CBD5E1"/>
                </a:solidFill>
              </a:rPr>
              <a:t>RandomizedSearchCV: Tuning Veloce</a:t>
            </a: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>
                <a:solidFill>
                  <a:srgbClr val="CBD5E1"/>
                </a:solidFill>
              </a:defRPr>
            </a:pPr>
            <a:r>
              <a:rPr lang="it-IT" sz="1600" dirty="0">
                <a:solidFill>
                  <a:srgbClr val="CBD5E1"/>
                </a:solidFill>
              </a:rPr>
              <a:t>Salvataggio &amp; Caricamento del Modello</a:t>
            </a:r>
            <a:endParaRPr sz="1600" dirty="0">
              <a:solidFill>
                <a:srgbClr val="CBD5E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</a:defRPr>
            </a:pPr>
            <a:r>
              <a:rPr dirty="0" err="1"/>
              <a:t>Cos'è</a:t>
            </a:r>
            <a:r>
              <a:rPr dirty="0"/>
              <a:t> Scikit-learn?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r>
              <a:rPr dirty="0"/>
              <a:t>• </a:t>
            </a:r>
            <a:r>
              <a:rPr dirty="0" err="1"/>
              <a:t>Libreria</a:t>
            </a:r>
            <a:r>
              <a:rPr dirty="0"/>
              <a:t> Python per Machine Learning 🐍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r>
              <a:rPr dirty="0"/>
              <a:t>• Built on: NumPy, SciPy, Matplotlib, Pandas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r>
              <a:rPr dirty="0"/>
              <a:t>• API </a:t>
            </a:r>
            <a:r>
              <a:rPr dirty="0" err="1"/>
              <a:t>coerente</a:t>
            </a:r>
            <a:r>
              <a:rPr dirty="0"/>
              <a:t>: </a:t>
            </a:r>
            <a:r>
              <a:rPr lang="it-IT" dirty="0"/>
              <a:t>t</a:t>
            </a:r>
            <a:r>
              <a:rPr dirty="0" err="1"/>
              <a:t>utti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modelli</a:t>
            </a:r>
            <a:r>
              <a:rPr dirty="0"/>
              <a:t> </a:t>
            </a:r>
            <a:r>
              <a:rPr dirty="0" err="1"/>
              <a:t>seguono</a:t>
            </a:r>
            <a:r>
              <a:rPr dirty="0"/>
              <a:t> lo </a:t>
            </a:r>
            <a:r>
              <a:rPr dirty="0" err="1"/>
              <a:t>stesso</a:t>
            </a:r>
            <a:r>
              <a:rPr dirty="0"/>
              <a:t> pattern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r>
              <a:rPr dirty="0"/>
              <a:t>• </a:t>
            </a:r>
            <a:r>
              <a:rPr dirty="0" err="1"/>
              <a:t>Modelli</a:t>
            </a:r>
            <a:r>
              <a:rPr dirty="0"/>
              <a:t> </a:t>
            </a:r>
            <a:r>
              <a:rPr dirty="0" err="1"/>
              <a:t>predefiniti</a:t>
            </a:r>
            <a:r>
              <a:rPr dirty="0"/>
              <a:t>: 100+ </a:t>
            </a:r>
            <a:r>
              <a:rPr dirty="0" err="1"/>
              <a:t>algoritmi</a:t>
            </a:r>
            <a:r>
              <a:rPr dirty="0"/>
              <a:t> ML </a:t>
            </a:r>
            <a:r>
              <a:rPr dirty="0" err="1"/>
              <a:t>pronti</a:t>
            </a:r>
            <a:r>
              <a:rPr dirty="0"/>
              <a:t> </a:t>
            </a:r>
            <a:r>
              <a:rPr dirty="0" err="1"/>
              <a:t>all'uso</a:t>
            </a:r>
            <a:endParaRPr dirty="0"/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r>
              <a:rPr dirty="0"/>
              <a:t>• </a:t>
            </a:r>
            <a:r>
              <a:rPr dirty="0" err="1"/>
              <a:t>Strumenti</a:t>
            </a:r>
            <a:r>
              <a:rPr dirty="0"/>
              <a:t>: preprocessing, feature selection, model selection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r>
              <a:rPr dirty="0"/>
              <a:t>• </a:t>
            </a:r>
            <a:r>
              <a:rPr dirty="0" err="1"/>
              <a:t>Visualizzazione</a:t>
            </a:r>
            <a:r>
              <a:rPr dirty="0"/>
              <a:t>: confusion matrix, ROC curves, feature importance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r>
              <a:rPr dirty="0"/>
              <a:t>• </a:t>
            </a:r>
            <a:r>
              <a:rPr dirty="0" err="1"/>
              <a:t>Installazione</a:t>
            </a:r>
            <a:r>
              <a:rPr dirty="0"/>
              <a:t>: 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scikit-learn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</a:defRPr>
            </a:pPr>
            <a:r>
              <a:rPr sz="3200" dirty="0" err="1"/>
              <a:t>Architettura</a:t>
            </a:r>
            <a:r>
              <a:rPr sz="3200" dirty="0"/>
              <a:t> e API </a:t>
            </a:r>
            <a:r>
              <a:rPr lang="it-IT" sz="3200" dirty="0"/>
              <a:t>c</a:t>
            </a:r>
            <a:r>
              <a:rPr sz="3200" dirty="0" err="1"/>
              <a:t>oerente</a:t>
            </a:r>
            <a:endParaRPr sz="3200" dirty="0"/>
          </a:p>
        </p:txBody>
      </p:sp>
      <p:sp>
        <p:nvSpPr>
          <p:cNvPr id="3" name="Rectangle 2"/>
          <p:cNvSpPr/>
          <p:nvPr/>
        </p:nvSpPr>
        <p:spPr>
          <a:xfrm>
            <a:off x="365760" y="989503"/>
            <a:ext cx="8412480" cy="3096111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48640"/>
            <a:ext cx="8046720" cy="297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sz="1400" dirty="0"/>
              <a:t># Importa i modelli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400" dirty="0"/>
              <a:t>from </a:t>
            </a:r>
            <a:r>
              <a:rPr sz="1400" dirty="0" err="1"/>
              <a:t>sklearn</a:t>
            </a:r>
            <a:r>
              <a:rPr sz="1400" dirty="0"/>
              <a:t> import datasets, </a:t>
            </a:r>
            <a:r>
              <a:rPr sz="1400" dirty="0" err="1"/>
              <a:t>model_selection</a:t>
            </a:r>
            <a:r>
              <a:rPr sz="1400" dirty="0"/>
              <a:t>, preprocessing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400" dirty="0"/>
              <a:t>from </a:t>
            </a:r>
            <a:r>
              <a:rPr sz="1400" dirty="0" err="1"/>
              <a:t>sklearn.tree</a:t>
            </a:r>
            <a:r>
              <a:rPr sz="1400" dirty="0"/>
              <a:t> import </a:t>
            </a:r>
            <a:r>
              <a:rPr sz="1400" dirty="0" err="1"/>
              <a:t>DecisionTreeClassifier</a:t>
            </a:r>
            <a:endParaRPr sz="14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400" dirty="0"/>
              <a:t>from </a:t>
            </a:r>
            <a:r>
              <a:rPr sz="1400" dirty="0" err="1"/>
              <a:t>sklearn.ensemble</a:t>
            </a:r>
            <a:r>
              <a:rPr sz="1400" dirty="0"/>
              <a:t> import </a:t>
            </a:r>
            <a:r>
              <a:rPr sz="1400" dirty="0" err="1"/>
              <a:t>RandomForestClassifier</a:t>
            </a:r>
            <a:endParaRPr sz="14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400" dirty="0"/>
              <a:t>from </a:t>
            </a:r>
            <a:r>
              <a:rPr sz="1400" dirty="0" err="1"/>
              <a:t>sklearn.metrics</a:t>
            </a:r>
            <a:r>
              <a:rPr sz="1400" dirty="0"/>
              <a:t> import </a:t>
            </a:r>
            <a:r>
              <a:rPr sz="1400" dirty="0" err="1"/>
              <a:t>accuracy_score</a:t>
            </a:r>
            <a:r>
              <a:rPr sz="1400" dirty="0"/>
              <a:t>, </a:t>
            </a:r>
            <a:r>
              <a:rPr sz="1400" dirty="0" err="1"/>
              <a:t>confusion_matrix</a:t>
            </a:r>
            <a:endParaRPr sz="14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sz="14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400" dirty="0"/>
              <a:t># Tutti </a:t>
            </a:r>
            <a:r>
              <a:rPr sz="1400" dirty="0" err="1"/>
              <a:t>i</a:t>
            </a:r>
            <a:r>
              <a:rPr sz="1400" dirty="0"/>
              <a:t> </a:t>
            </a:r>
            <a:r>
              <a:rPr sz="1400" dirty="0" err="1"/>
              <a:t>modelli</a:t>
            </a:r>
            <a:r>
              <a:rPr sz="1400" dirty="0"/>
              <a:t> </a:t>
            </a:r>
            <a:r>
              <a:rPr sz="1400" dirty="0" err="1"/>
              <a:t>seguono</a:t>
            </a:r>
            <a:r>
              <a:rPr sz="1400" dirty="0"/>
              <a:t> lo STESSO pattern: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400" dirty="0"/>
              <a:t>model = </a:t>
            </a:r>
            <a:r>
              <a:rPr sz="1400" dirty="0" err="1"/>
              <a:t>DecisionTreeClassifier</a:t>
            </a:r>
            <a:r>
              <a:rPr sz="1400" dirty="0"/>
              <a:t>()  </a:t>
            </a:r>
            <a:r>
              <a:rPr lang="it-IT" sz="1400" dirty="0"/>
              <a:t>   </a:t>
            </a:r>
            <a:r>
              <a:rPr sz="1400" dirty="0"/>
              <a:t># 1. </a:t>
            </a:r>
            <a:r>
              <a:rPr sz="1400" dirty="0" err="1"/>
              <a:t>Istanzia</a:t>
            </a:r>
            <a:r>
              <a:rPr lang="it-IT" sz="1400" dirty="0"/>
              <a:t>re</a:t>
            </a:r>
            <a:endParaRPr sz="14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400" dirty="0" err="1"/>
              <a:t>model.fit</a:t>
            </a:r>
            <a:r>
              <a:rPr sz="1400" dirty="0"/>
              <a:t>(</a:t>
            </a:r>
            <a:r>
              <a:rPr sz="1400" dirty="0" err="1"/>
              <a:t>X_train</a:t>
            </a:r>
            <a:r>
              <a:rPr sz="1400" dirty="0"/>
              <a:t>, </a:t>
            </a:r>
            <a:r>
              <a:rPr sz="1400" dirty="0" err="1"/>
              <a:t>y_train</a:t>
            </a:r>
            <a:r>
              <a:rPr sz="1400" dirty="0"/>
              <a:t>)       </a:t>
            </a:r>
            <a:r>
              <a:rPr lang="it-IT" sz="1400" dirty="0"/>
              <a:t>   </a:t>
            </a:r>
            <a:r>
              <a:rPr sz="1400" dirty="0"/>
              <a:t># 2. Allena</a:t>
            </a:r>
            <a:r>
              <a:rPr lang="it-IT" sz="1400" dirty="0"/>
              <a:t>re</a:t>
            </a:r>
            <a:endParaRPr sz="14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400" dirty="0" err="1"/>
              <a:t>y_pred</a:t>
            </a:r>
            <a:r>
              <a:rPr sz="1400" dirty="0"/>
              <a:t> = </a:t>
            </a:r>
            <a:r>
              <a:rPr sz="1400" dirty="0" err="1"/>
              <a:t>model.predict</a:t>
            </a:r>
            <a:r>
              <a:rPr sz="1400" dirty="0"/>
              <a:t>(</a:t>
            </a:r>
            <a:r>
              <a:rPr sz="1400" dirty="0" err="1"/>
              <a:t>X_test</a:t>
            </a:r>
            <a:r>
              <a:rPr sz="1400" dirty="0"/>
              <a:t>)   </a:t>
            </a:r>
            <a:r>
              <a:rPr lang="it-IT" sz="1400" dirty="0"/>
              <a:t>   </a:t>
            </a:r>
            <a:r>
              <a:rPr sz="1400" dirty="0"/>
              <a:t> # 3. </a:t>
            </a:r>
            <a:r>
              <a:rPr sz="1400" dirty="0" err="1"/>
              <a:t>Predi</a:t>
            </a:r>
            <a:r>
              <a:rPr lang="it-IT" sz="1400" dirty="0"/>
              <a:t>re</a:t>
            </a:r>
            <a:endParaRPr sz="14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400" dirty="0"/>
              <a:t>score = </a:t>
            </a:r>
            <a:r>
              <a:rPr sz="1400" dirty="0" err="1"/>
              <a:t>model.score</a:t>
            </a:r>
            <a:r>
              <a:rPr sz="1400" dirty="0"/>
              <a:t>(</a:t>
            </a:r>
            <a:r>
              <a:rPr sz="1400" dirty="0" err="1"/>
              <a:t>X_test</a:t>
            </a:r>
            <a:r>
              <a:rPr sz="1400" dirty="0"/>
              <a:t>, </a:t>
            </a:r>
            <a:r>
              <a:rPr sz="1400" dirty="0" err="1"/>
              <a:t>y_test</a:t>
            </a:r>
            <a:r>
              <a:rPr sz="1400" dirty="0"/>
              <a:t>)  # 4. Valuta</a:t>
            </a:r>
            <a:r>
              <a:rPr lang="it-IT" sz="1400" dirty="0"/>
              <a:t>re</a:t>
            </a:r>
            <a:endParaRPr sz="14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648DB7E-E298-865A-AD20-5C5B47CD4573}"/>
              </a:ext>
            </a:extLst>
          </p:cNvPr>
          <p:cNvSpPr txBox="1"/>
          <p:nvPr/>
        </p:nvSpPr>
        <p:spPr>
          <a:xfrm>
            <a:off x="548640" y="4221266"/>
            <a:ext cx="8046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0" i="0" dirty="0">
                <a:solidFill>
                  <a:schemeClr val="bg1">
                    <a:lumMod val="95000"/>
                  </a:schemeClr>
                </a:solidFill>
                <a:effectLst/>
              </a:rPr>
              <a:t>Questa uniformità rende facile cambiare modello (es. da </a:t>
            </a:r>
            <a:r>
              <a:rPr lang="it-IT" sz="1600" b="0" i="0" dirty="0" err="1">
                <a:solidFill>
                  <a:schemeClr val="bg1">
                    <a:lumMod val="95000"/>
                  </a:schemeClr>
                </a:solidFill>
                <a:effectLst/>
              </a:rPr>
              <a:t>DecisionTreeClassifier</a:t>
            </a:r>
            <a:r>
              <a:rPr lang="it-IT" sz="1600" b="0" i="0" dirty="0">
                <a:solidFill>
                  <a:schemeClr val="bg1">
                    <a:lumMod val="95000"/>
                  </a:schemeClr>
                </a:solidFill>
                <a:effectLst/>
              </a:rPr>
              <a:t> a </a:t>
            </a:r>
            <a:r>
              <a:rPr lang="it-IT" sz="1600" b="0" i="0" dirty="0" err="1">
                <a:solidFill>
                  <a:schemeClr val="bg1">
                    <a:lumMod val="95000"/>
                  </a:schemeClr>
                </a:solidFill>
                <a:effectLst/>
              </a:rPr>
              <a:t>RandomForestClassifier</a:t>
            </a:r>
            <a:r>
              <a:rPr lang="it-IT" sz="1600" b="0" i="0" dirty="0">
                <a:solidFill>
                  <a:schemeClr val="bg1">
                    <a:lumMod val="95000"/>
                  </a:schemeClr>
                </a:solidFill>
                <a:effectLst/>
              </a:rPr>
              <a:t>) senza riscrivere tutto il codice.</a:t>
            </a:r>
            <a:endParaRPr lang="it-IT" sz="16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</a:defRPr>
            </a:pPr>
            <a:r>
              <a:rPr sz="3200" dirty="0"/>
              <a:t>Dataset Built-in di Scikit-learn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807846"/>
            <a:ext cx="8412480" cy="3098234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65908"/>
            <a:ext cx="8046720" cy="3057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sz="1200" dirty="0"/>
              <a:t># Importa il modulo che contiene i dataset di esempio.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200" dirty="0"/>
              <a:t>from </a:t>
            </a:r>
            <a:r>
              <a:rPr sz="1200" dirty="0" err="1"/>
              <a:t>sklearn</a:t>
            </a:r>
            <a:r>
              <a:rPr sz="1200" dirty="0"/>
              <a:t> import datasets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sz="12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200" dirty="0"/>
              <a:t># Iris - </a:t>
            </a:r>
            <a:r>
              <a:rPr sz="1200" dirty="0" err="1"/>
              <a:t>Classificazione</a:t>
            </a:r>
            <a:r>
              <a:rPr sz="1200" dirty="0"/>
              <a:t> (150 </a:t>
            </a:r>
            <a:r>
              <a:rPr lang="it-IT" sz="1200" dirty="0"/>
              <a:t>fiori</a:t>
            </a:r>
            <a:r>
              <a:rPr sz="1200" dirty="0"/>
              <a:t>, 3 </a:t>
            </a:r>
            <a:r>
              <a:rPr lang="it-IT" sz="1200" dirty="0"/>
              <a:t>specie</a:t>
            </a:r>
            <a:r>
              <a:rPr sz="1200"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200" dirty="0"/>
              <a:t>iris = </a:t>
            </a:r>
            <a:r>
              <a:rPr sz="1200" dirty="0" err="1"/>
              <a:t>datasets.load_iris</a:t>
            </a:r>
            <a:r>
              <a:rPr sz="1200" dirty="0"/>
              <a:t>()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200" dirty="0" err="1"/>
              <a:t>X_iris</a:t>
            </a:r>
            <a:r>
              <a:rPr sz="1200" dirty="0"/>
              <a:t>, </a:t>
            </a:r>
            <a:r>
              <a:rPr sz="1200" dirty="0" err="1"/>
              <a:t>y_iris</a:t>
            </a:r>
            <a:r>
              <a:rPr sz="1200" dirty="0"/>
              <a:t> = </a:t>
            </a:r>
            <a:r>
              <a:rPr sz="1200" dirty="0" err="1"/>
              <a:t>iris.data</a:t>
            </a:r>
            <a:r>
              <a:rPr sz="1200" dirty="0"/>
              <a:t>, </a:t>
            </a:r>
            <a:r>
              <a:rPr sz="1200" dirty="0" err="1"/>
              <a:t>iris.target</a:t>
            </a:r>
            <a:r>
              <a:rPr lang="it-IT" sz="1200" dirty="0"/>
              <a:t> 	# le feature (misure) e le etichette (specie)</a:t>
            </a:r>
            <a:endParaRPr sz="12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sz="12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200" dirty="0"/>
              <a:t># Wine - </a:t>
            </a:r>
            <a:r>
              <a:rPr sz="1200" dirty="0" err="1"/>
              <a:t>Classificazione</a:t>
            </a:r>
            <a:r>
              <a:rPr sz="1200" dirty="0"/>
              <a:t> (178 </a:t>
            </a:r>
            <a:r>
              <a:rPr lang="it-IT" sz="1200" dirty="0"/>
              <a:t>vini</a:t>
            </a:r>
            <a:r>
              <a:rPr sz="1200" dirty="0"/>
              <a:t>, 3 </a:t>
            </a:r>
            <a:r>
              <a:rPr sz="1200" dirty="0" err="1"/>
              <a:t>classi</a:t>
            </a:r>
            <a:r>
              <a:rPr sz="1200"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200" dirty="0"/>
              <a:t>wine = </a:t>
            </a:r>
            <a:r>
              <a:rPr sz="1200" dirty="0" err="1"/>
              <a:t>datasets.load_wine</a:t>
            </a:r>
            <a:r>
              <a:rPr sz="1200" dirty="0"/>
              <a:t>()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sz="12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200" dirty="0"/>
              <a:t># Digits - </a:t>
            </a:r>
            <a:r>
              <a:rPr sz="1200" dirty="0" err="1"/>
              <a:t>Riconoscimento</a:t>
            </a:r>
            <a:r>
              <a:rPr sz="1200" dirty="0"/>
              <a:t> numeri (</a:t>
            </a:r>
            <a:r>
              <a:rPr lang="it-IT" sz="1200" dirty="0"/>
              <a:t>1797 immagini 8x8 di cifre scritte a mano</a:t>
            </a:r>
            <a:r>
              <a:rPr sz="1200"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200" dirty="0"/>
              <a:t>digits = </a:t>
            </a:r>
            <a:r>
              <a:rPr sz="1200" dirty="0" err="1"/>
              <a:t>datasets.load_digits</a:t>
            </a:r>
            <a:r>
              <a:rPr sz="1200" dirty="0"/>
              <a:t>()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8A66FF9-66E4-0CD9-8B53-DEE2CD836FB1}"/>
              </a:ext>
            </a:extLst>
          </p:cNvPr>
          <p:cNvSpPr txBox="1"/>
          <p:nvPr/>
        </p:nvSpPr>
        <p:spPr>
          <a:xfrm>
            <a:off x="548640" y="917972"/>
            <a:ext cx="81381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0" i="0" dirty="0">
                <a:solidFill>
                  <a:schemeClr val="bg1">
                    <a:lumMod val="95000"/>
                  </a:schemeClr>
                </a:solidFill>
                <a:effectLst/>
              </a:rPr>
              <a:t>Scikit-learn fornisce già alcuni dataset di esempio pronti da usare, senza dover cercare file esterni. Sono perfetti per fare esercizi veloci su classificazione senza doversi preoccupare di reperire e “pulire” i dati.</a:t>
            </a:r>
            <a:endParaRPr lang="it-IT" sz="16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</a:defRPr>
            </a:pPr>
            <a:r>
              <a:rPr sz="3200" dirty="0"/>
              <a:t>Train-Test Split con Scikit-learn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9383"/>
            <a:ext cx="8412480" cy="3278951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22281"/>
            <a:ext cx="8046720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200" dirty="0"/>
              <a:t>from </a:t>
            </a:r>
            <a:r>
              <a:rPr sz="1200" dirty="0" err="1"/>
              <a:t>sklearn.model_selection</a:t>
            </a:r>
            <a:r>
              <a:rPr sz="1200" dirty="0"/>
              <a:t> import </a:t>
            </a:r>
            <a:r>
              <a:rPr sz="1200" dirty="0" err="1"/>
              <a:t>train_test_split</a:t>
            </a:r>
            <a:endParaRPr sz="12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lang="it-IT" sz="12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en-US" sz="1200" dirty="0"/>
              <a:t># X = feature (input), y = </a:t>
            </a:r>
            <a:r>
              <a:rPr lang="en-US" sz="1200" dirty="0" err="1"/>
              <a:t>etichette</a:t>
            </a:r>
            <a:r>
              <a:rPr lang="en-US" sz="1200" dirty="0"/>
              <a:t> (target)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200" dirty="0" err="1"/>
              <a:t>X_train</a:t>
            </a:r>
            <a:r>
              <a:rPr sz="1200" dirty="0"/>
              <a:t>, </a:t>
            </a:r>
            <a:r>
              <a:rPr sz="1200" dirty="0" err="1"/>
              <a:t>X_test</a:t>
            </a:r>
            <a:r>
              <a:rPr sz="1200" dirty="0"/>
              <a:t>, </a:t>
            </a:r>
            <a:r>
              <a:rPr sz="1200" dirty="0" err="1"/>
              <a:t>y_train</a:t>
            </a:r>
            <a:r>
              <a:rPr sz="1200" dirty="0"/>
              <a:t>, </a:t>
            </a:r>
            <a:r>
              <a:rPr sz="1200" dirty="0" err="1"/>
              <a:t>y_test</a:t>
            </a:r>
            <a:r>
              <a:rPr sz="1200" dirty="0"/>
              <a:t> = </a:t>
            </a:r>
            <a:r>
              <a:rPr sz="1200" dirty="0" err="1"/>
              <a:t>train_test_split</a:t>
            </a:r>
            <a:r>
              <a:rPr sz="1200" dirty="0"/>
              <a:t>(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sz="1200" dirty="0"/>
              <a:t>    </a:t>
            </a:r>
            <a:r>
              <a:rPr sz="1200" dirty="0" err="1"/>
              <a:t>test_size</a:t>
            </a:r>
            <a:r>
              <a:rPr sz="1200" dirty="0"/>
              <a:t>=</a:t>
            </a:r>
            <a:r>
              <a:rPr sz="1200" b="1" dirty="0">
                <a:solidFill>
                  <a:srgbClr val="FFC000"/>
                </a:solidFill>
              </a:rPr>
              <a:t>0.2</a:t>
            </a:r>
            <a:r>
              <a:rPr sz="1200" dirty="0"/>
              <a:t>,      </a:t>
            </a:r>
            <a:r>
              <a:rPr lang="it-IT" sz="1200" dirty="0"/>
              <a:t>  </a:t>
            </a:r>
            <a:r>
              <a:rPr sz="1200" dirty="0"/>
              <a:t># 80% train, 20% test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200" dirty="0"/>
              <a:t>    </a:t>
            </a:r>
            <a:r>
              <a:rPr sz="1200" dirty="0" err="1"/>
              <a:t>random_state</a:t>
            </a:r>
            <a:r>
              <a:rPr sz="1200" dirty="0"/>
              <a:t>=</a:t>
            </a:r>
            <a:r>
              <a:rPr sz="1200" b="1" dirty="0">
                <a:solidFill>
                  <a:srgbClr val="FFC000"/>
                </a:solidFill>
              </a:rPr>
              <a:t>42</a:t>
            </a:r>
            <a:r>
              <a:rPr sz="1200" dirty="0"/>
              <a:t>,    </a:t>
            </a:r>
            <a:r>
              <a:rPr lang="it-IT" sz="1200" dirty="0"/>
              <a:t>  </a:t>
            </a:r>
            <a:r>
              <a:rPr sz="1200" dirty="0"/>
              <a:t># </a:t>
            </a:r>
            <a:r>
              <a:rPr lang="it-IT" sz="1200" dirty="0"/>
              <a:t>r</a:t>
            </a:r>
            <a:r>
              <a:rPr sz="1200" dirty="0" err="1"/>
              <a:t>eproducibilità</a:t>
            </a:r>
            <a:r>
              <a:rPr lang="it-IT" sz="1200" dirty="0"/>
              <a:t>, stessa divisione ogni volta</a:t>
            </a:r>
            <a:endParaRPr sz="12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200" dirty="0"/>
              <a:t>    stratify=y</a:t>
            </a:r>
            <a:r>
              <a:rPr lang="it-IT" sz="1200" dirty="0"/>
              <a:t>_iris</a:t>
            </a:r>
            <a:r>
              <a:rPr sz="1200" dirty="0"/>
              <a:t>       # </a:t>
            </a:r>
            <a:r>
              <a:rPr lang="it-IT" sz="1200" dirty="0"/>
              <a:t>mantiene le proporzioni delle classi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sz="1200" dirty="0"/>
              <a:t>					 # se è classificazione, mantiene nel </a:t>
            </a:r>
            <a:r>
              <a:rPr lang="it-IT" sz="1200" dirty="0" err="1"/>
              <a:t>train</a:t>
            </a:r>
            <a:r>
              <a:rPr lang="it-IT" sz="1200" dirty="0"/>
              <a:t>/test la stessa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sz="1200" dirty="0"/>
              <a:t>					 # distribuzione di classi (es. 30% classe 1, 70% classe 0)</a:t>
            </a:r>
            <a:endParaRPr sz="12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200"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lang="it-IT" sz="12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sz="1200" dirty="0"/>
              <a:t># Stampa quanti campioni sono finiti nel </a:t>
            </a:r>
            <a:r>
              <a:rPr lang="it-IT" sz="1200" dirty="0" err="1"/>
              <a:t>train</a:t>
            </a:r>
            <a:r>
              <a:rPr lang="it-IT" sz="1200" dirty="0"/>
              <a:t> e quanti nel test</a:t>
            </a:r>
            <a:endParaRPr sz="12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200" dirty="0"/>
              <a:t>print(</a:t>
            </a:r>
            <a:r>
              <a:rPr sz="1200" dirty="0" err="1"/>
              <a:t>f'Train</a:t>
            </a:r>
            <a:r>
              <a:rPr sz="1200" dirty="0"/>
              <a:t>: {</a:t>
            </a:r>
            <a:r>
              <a:rPr sz="1200" dirty="0" err="1"/>
              <a:t>X_train.shape</a:t>
            </a:r>
            <a:r>
              <a:rPr sz="1200" dirty="0"/>
              <a:t>[0]}, Test: {</a:t>
            </a:r>
            <a:r>
              <a:rPr sz="1200" dirty="0" err="1"/>
              <a:t>X_test.shape</a:t>
            </a:r>
            <a:r>
              <a:rPr sz="1200" dirty="0"/>
              <a:t>[0]}')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E67DDAB-F9B0-2627-A5BB-B9C3B7EDD48E}"/>
              </a:ext>
            </a:extLst>
          </p:cNvPr>
          <p:cNvSpPr txBox="1"/>
          <p:nvPr/>
        </p:nvSpPr>
        <p:spPr>
          <a:xfrm>
            <a:off x="2286000" y="449984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Train: 120, Test: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89C418-10FF-BB98-F648-988BF560D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5E57C0-66AB-E428-82CA-ADAB8D507D18}"/>
              </a:ext>
            </a:extLst>
          </p:cNvPr>
          <p:cNvSpPr txBox="1"/>
          <p:nvPr/>
        </p:nvSpPr>
        <p:spPr>
          <a:xfrm>
            <a:off x="457200" y="27432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</a:defRPr>
            </a:pPr>
            <a:r>
              <a:rPr lang="it-IT" sz="3200" dirty="0"/>
              <a:t>Spiegazione: </a:t>
            </a:r>
            <a:r>
              <a:rPr sz="3200" dirty="0"/>
              <a:t>Train-Test Split con Scikit-learn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F72E38B-3DBB-DBB7-25B2-F586D1936E23}"/>
              </a:ext>
            </a:extLst>
          </p:cNvPr>
          <p:cNvSpPr txBox="1"/>
          <p:nvPr/>
        </p:nvSpPr>
        <p:spPr>
          <a:xfrm>
            <a:off x="406800" y="936222"/>
            <a:ext cx="82296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Il risultato "Train: 120, Test: 30" significa che il dataset originale di 150 campioni (fiori) è stato diviso in due parti:</a:t>
            </a:r>
          </a:p>
          <a:p>
            <a:pPr marL="446088" indent="-285750" algn="just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chemeClr val="bg1">
                    <a:lumMod val="95000"/>
                  </a:schemeClr>
                </a:solidFill>
              </a:rPr>
              <a:t>120</a:t>
            </a:r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 campioni sono stati assegnati al set di addestramento (</a:t>
            </a:r>
            <a:r>
              <a:rPr lang="it-IT" sz="1600" dirty="0" err="1">
                <a:solidFill>
                  <a:schemeClr val="bg1">
                    <a:lumMod val="95000"/>
                  </a:schemeClr>
                </a:solidFill>
              </a:rPr>
              <a:t>train</a:t>
            </a:r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), che serve per "insegnare" al modello</a:t>
            </a:r>
          </a:p>
          <a:p>
            <a:pPr marL="446088" indent="-285750" algn="just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chemeClr val="bg1">
                    <a:lumMod val="95000"/>
                  </a:schemeClr>
                </a:solidFill>
              </a:rPr>
              <a:t>30</a:t>
            </a:r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 campioni sono stati messi nel set di test, usato per valutare la capacità del modello di generalizzare su dati nuovi.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>
              <a:solidFill>
                <a:schemeClr val="bg1">
                  <a:lumMod val="95000"/>
                </a:schemeClr>
              </a:solidFill>
            </a:endParaRPr>
          </a:p>
          <a:p>
            <a:pPr algn="just"/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In pratica, il modello impara dai 120 esempi e poi viene testato su 30 esempi mai visti prima per verificare quanto bene riesce a classificare correttamente le specie di iris.</a:t>
            </a:r>
          </a:p>
          <a:p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Impostando </a:t>
            </a:r>
            <a:r>
              <a:rPr lang="it-IT" sz="1600" dirty="0" err="1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test_size</a:t>
            </a:r>
            <a:r>
              <a:rPr lang="it-IT" sz="16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it-IT" sz="1600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</a:t>
            </a:r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, il 30% dei dati viene usato per il test e il 70% per l'addestramento. Questo significa meno dati per addestrare il modello, ma una valutazione più robusta con più dati di test.</a:t>
            </a:r>
          </a:p>
          <a:p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Cambiare </a:t>
            </a:r>
            <a:r>
              <a:rPr lang="it-IT" sz="1600" dirty="0" err="1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random_state</a:t>
            </a:r>
            <a:r>
              <a:rPr lang="it-IT" sz="16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da 42 a 50 modifica la divisione casuale dei dati in </a:t>
            </a:r>
            <a:r>
              <a:rPr lang="it-IT" sz="1600" dirty="0" err="1">
                <a:solidFill>
                  <a:schemeClr val="bg1">
                    <a:lumMod val="95000"/>
                  </a:schemeClr>
                </a:solidFill>
              </a:rPr>
              <a:t>train</a:t>
            </a:r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 e test. Anche se la proporzione rimane la stessa, i campioni specifici assegnati a </a:t>
            </a:r>
            <a:r>
              <a:rPr lang="it-IT" sz="1600" dirty="0" err="1">
                <a:solidFill>
                  <a:schemeClr val="bg1">
                    <a:lumMod val="95000"/>
                  </a:schemeClr>
                </a:solidFill>
              </a:rPr>
              <a:t>train</a:t>
            </a:r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 e test cambiano. Questo può influenzare i risultati del modello se si esegue più volte la divisione con </a:t>
            </a:r>
            <a:r>
              <a:rPr lang="it-IT" sz="1600" dirty="0" err="1">
                <a:solidFill>
                  <a:schemeClr val="bg1">
                    <a:lumMod val="95000"/>
                  </a:schemeClr>
                </a:solidFill>
              </a:rPr>
              <a:t>random_state</a:t>
            </a:r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 diverso, perché il modello vede dati diversi in fase di addestramento e test.</a:t>
            </a:r>
          </a:p>
        </p:txBody>
      </p:sp>
    </p:spTree>
    <p:extLst>
      <p:ext uri="{BB962C8B-B14F-4D97-AF65-F5344CB8AC3E}">
        <p14:creationId xmlns:p14="http://schemas.microsoft.com/office/powerpoint/2010/main" val="2413654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</a:defRPr>
            </a:pPr>
            <a:r>
              <a:rPr sz="3200" dirty="0"/>
              <a:t>Preprocessing: </a:t>
            </a:r>
            <a:r>
              <a:rPr sz="3200" dirty="0" err="1"/>
              <a:t>StandardScaler</a:t>
            </a:r>
            <a:endParaRPr sz="3200" dirty="0"/>
          </a:p>
        </p:txBody>
      </p:sp>
      <p:sp>
        <p:nvSpPr>
          <p:cNvPr id="3" name="Rectangle 2"/>
          <p:cNvSpPr/>
          <p:nvPr/>
        </p:nvSpPr>
        <p:spPr>
          <a:xfrm>
            <a:off x="365760" y="1270958"/>
            <a:ext cx="8412480" cy="3598221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8713"/>
            <a:ext cx="8412480" cy="3580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200" dirty="0"/>
              <a:t>from </a:t>
            </a:r>
            <a:r>
              <a:rPr sz="1200" dirty="0" err="1"/>
              <a:t>sklearn.preprocessing</a:t>
            </a:r>
            <a:r>
              <a:rPr sz="1200" dirty="0"/>
              <a:t> import </a:t>
            </a:r>
            <a:r>
              <a:rPr sz="1200" dirty="0" err="1"/>
              <a:t>StandardScaler</a:t>
            </a:r>
            <a:endParaRPr sz="12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sz="12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200" dirty="0"/>
              <a:t>scaler = </a:t>
            </a:r>
            <a:r>
              <a:rPr sz="1200" dirty="0" err="1"/>
              <a:t>StandardScaler</a:t>
            </a:r>
            <a:r>
              <a:rPr sz="1200" dirty="0"/>
              <a:t>()</a:t>
            </a:r>
            <a:r>
              <a:rPr lang="it-IT" sz="1200" dirty="0"/>
              <a:t>	# </a:t>
            </a:r>
            <a:r>
              <a:rPr lang="it-IT" sz="1200" dirty="0">
                <a:solidFill>
                  <a:schemeClr val="bg1">
                    <a:lumMod val="95000"/>
                  </a:schemeClr>
                </a:solidFill>
              </a:rPr>
              <a:t>trasforma ogni feature per avere media 0 e deviazione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sz="1200" dirty="0">
                <a:solidFill>
                  <a:schemeClr val="bg1">
                    <a:lumMod val="95000"/>
                  </a:schemeClr>
                </a:solidFill>
              </a:rPr>
              <a:t>						# standard 1</a:t>
            </a:r>
            <a:endParaRPr sz="12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200" dirty="0"/>
              <a:t>X_train_scaled = </a:t>
            </a:r>
            <a:r>
              <a:rPr sz="1200" dirty="0" err="1"/>
              <a:t>scaler.fit_transform</a:t>
            </a:r>
            <a:r>
              <a:rPr sz="1200" dirty="0"/>
              <a:t>(</a:t>
            </a:r>
            <a:r>
              <a:rPr sz="1200" dirty="0" err="1"/>
              <a:t>X_train</a:t>
            </a:r>
            <a:r>
              <a:rPr sz="1200" dirty="0"/>
              <a:t>)</a:t>
            </a:r>
            <a:r>
              <a:rPr lang="it-IT" sz="1200" dirty="0"/>
              <a:t>	# </a:t>
            </a:r>
            <a:r>
              <a:rPr lang="it-IT" sz="1200" dirty="0" err="1">
                <a:solidFill>
                  <a:srgbClr val="FFC000"/>
                </a:solidFill>
              </a:rPr>
              <a:t>fit</a:t>
            </a:r>
            <a:r>
              <a:rPr lang="it-IT" sz="1200" dirty="0"/>
              <a:t> calcola media e deviazione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sz="1200" dirty="0"/>
              <a:t>										# standard sul </a:t>
            </a:r>
            <a:r>
              <a:rPr lang="it-IT" sz="1200" dirty="0" err="1"/>
              <a:t>train</a:t>
            </a:r>
            <a:r>
              <a:rPr lang="it-IT" sz="1200" dirty="0"/>
              <a:t>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sz="1200" dirty="0"/>
              <a:t>										# </a:t>
            </a:r>
            <a:r>
              <a:rPr lang="it-IT" sz="1200" dirty="0" err="1">
                <a:solidFill>
                  <a:srgbClr val="FFC000"/>
                </a:solidFill>
              </a:rPr>
              <a:t>transform</a:t>
            </a:r>
            <a:r>
              <a:rPr lang="it-IT" sz="1200" dirty="0"/>
              <a:t> applica la formula di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sz="1200" dirty="0"/>
              <a:t>										# scaling ai dati di </a:t>
            </a:r>
            <a:r>
              <a:rPr lang="it-IT" sz="1200" dirty="0" err="1"/>
              <a:t>train</a:t>
            </a:r>
            <a:r>
              <a:rPr lang="it-IT" sz="1200" dirty="0"/>
              <a:t>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sz="12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200" dirty="0" err="1"/>
              <a:t>X_test_scaled</a:t>
            </a:r>
            <a:r>
              <a:rPr sz="1200" dirty="0"/>
              <a:t> = </a:t>
            </a:r>
            <a:r>
              <a:rPr sz="1200" dirty="0" err="1"/>
              <a:t>scaler.transform</a:t>
            </a:r>
            <a:r>
              <a:rPr sz="1200" dirty="0"/>
              <a:t>(</a:t>
            </a:r>
            <a:r>
              <a:rPr sz="1200" dirty="0" err="1"/>
              <a:t>X_test</a:t>
            </a:r>
            <a:r>
              <a:rPr sz="1200" dirty="0"/>
              <a:t>)</a:t>
            </a:r>
            <a:r>
              <a:rPr lang="it-IT" sz="1200" dirty="0"/>
              <a:t>	# applica lo stesso scaling ai dati di test,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sz="1200" dirty="0"/>
              <a:t>									# usando le statistiche calcolate sul </a:t>
            </a:r>
            <a:r>
              <a:rPr lang="it-IT" sz="1200" dirty="0" err="1"/>
              <a:t>train</a:t>
            </a:r>
            <a:endParaRPr sz="12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sz="12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200" dirty="0"/>
              <a:t># Media e std </a:t>
            </a:r>
            <a:r>
              <a:rPr sz="1200" dirty="0" err="1"/>
              <a:t>memorizzati</a:t>
            </a:r>
            <a:r>
              <a:rPr sz="1200" dirty="0"/>
              <a:t>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200" dirty="0"/>
              <a:t>print(</a:t>
            </a:r>
            <a:r>
              <a:rPr sz="1200" dirty="0" err="1"/>
              <a:t>f'Mean</a:t>
            </a:r>
            <a:r>
              <a:rPr sz="1200" dirty="0"/>
              <a:t>: {</a:t>
            </a:r>
            <a:r>
              <a:rPr sz="1200" dirty="0" err="1"/>
              <a:t>scaler.mean</a:t>
            </a:r>
            <a:r>
              <a:rPr sz="1200" dirty="0"/>
              <a:t>_}')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200" dirty="0"/>
              <a:t>print(</a:t>
            </a:r>
            <a:r>
              <a:rPr sz="1200" dirty="0" err="1"/>
              <a:t>f'Std</a:t>
            </a:r>
            <a:r>
              <a:rPr sz="1200" dirty="0"/>
              <a:t>: {</a:t>
            </a:r>
            <a:r>
              <a:rPr sz="1200" dirty="0" err="1"/>
              <a:t>scaler.scale</a:t>
            </a:r>
            <a:r>
              <a:rPr sz="1200" dirty="0"/>
              <a:t>_}')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924E93A-187F-23A0-2B5C-EF7F46FA68D2}"/>
              </a:ext>
            </a:extLst>
          </p:cNvPr>
          <p:cNvSpPr txBox="1"/>
          <p:nvPr/>
        </p:nvSpPr>
        <p:spPr>
          <a:xfrm>
            <a:off x="457200" y="865852"/>
            <a:ext cx="8046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0" i="0" dirty="0">
                <a:solidFill>
                  <a:schemeClr val="bg1">
                    <a:lumMod val="95000"/>
                  </a:schemeClr>
                </a:solidFill>
                <a:effectLst/>
              </a:rPr>
              <a:t>Vediamo come scalare le feature con </a:t>
            </a:r>
            <a:r>
              <a:rPr lang="it-IT" sz="1600" b="0" i="0" dirty="0" err="1">
                <a:solidFill>
                  <a:schemeClr val="bg1">
                    <a:lumMod val="95000"/>
                  </a:schemeClr>
                </a:solidFill>
                <a:effectLst/>
              </a:rPr>
              <a:t>StandardScaler</a:t>
            </a:r>
            <a:r>
              <a:rPr lang="it-IT" sz="1600" b="0" i="0" dirty="0">
                <a:solidFill>
                  <a:schemeClr val="bg1">
                    <a:lumMod val="95000"/>
                  </a:schemeClr>
                </a:solidFill>
                <a:effectLst/>
              </a:rPr>
              <a:t> in modo corretto.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CA8B174-14B9-7931-52FB-3929781E96A4}"/>
              </a:ext>
            </a:extLst>
          </p:cNvPr>
          <p:cNvSpPr txBox="1"/>
          <p:nvPr/>
        </p:nvSpPr>
        <p:spPr>
          <a:xfrm>
            <a:off x="4173166" y="3930461"/>
            <a:ext cx="4572000" cy="93871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b="1" dirty="0"/>
              <a:t>IMPORTANTE</a:t>
            </a:r>
            <a:r>
              <a:rPr lang="it-IT" dirty="0"/>
              <a:t>: </a:t>
            </a:r>
            <a:r>
              <a:rPr lang="it-IT" dirty="0" err="1"/>
              <a:t>fit</a:t>
            </a:r>
            <a:r>
              <a:rPr lang="it-IT" dirty="0"/>
              <a:t> SOLO su </a:t>
            </a:r>
            <a:r>
              <a:rPr lang="it-IT" dirty="0" err="1"/>
              <a:t>train</a:t>
            </a:r>
            <a:r>
              <a:rPr lang="it-IT" dirty="0"/>
              <a:t>! Se fai </a:t>
            </a:r>
            <a:r>
              <a:rPr lang="it-IT" dirty="0" err="1"/>
              <a:t>fit</a:t>
            </a:r>
            <a:r>
              <a:rPr lang="it-IT" dirty="0"/>
              <a:t> su test → Data leakage. Significa che se calcoli media/deviazione standard anche sui dati di test, il modello “vede” informazioni del test in fase di training, e la valutazione non è più onesta.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</a:defRPr>
            </a:pPr>
            <a:r>
              <a:rPr sz="3200" dirty="0"/>
              <a:t>ESERCIZIO 1: </a:t>
            </a:r>
            <a:r>
              <a:rPr sz="3200" dirty="0" err="1"/>
              <a:t>Classificazione</a:t>
            </a:r>
            <a:r>
              <a:rPr sz="3200" dirty="0"/>
              <a:t> Iris</a:t>
            </a:r>
            <a:r>
              <a:rPr lang="it-IT" sz="3200" dirty="0"/>
              <a:t> (Parte 1)</a:t>
            </a:r>
            <a:endParaRPr sz="3200" dirty="0"/>
          </a:p>
        </p:txBody>
      </p:sp>
      <p:sp>
        <p:nvSpPr>
          <p:cNvPr id="3" name="Rectangle 2"/>
          <p:cNvSpPr/>
          <p:nvPr/>
        </p:nvSpPr>
        <p:spPr>
          <a:xfrm>
            <a:off x="365760" y="1225688"/>
            <a:ext cx="8412480" cy="3297674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08568"/>
            <a:ext cx="8046720" cy="297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400" dirty="0"/>
              <a:t>📌 </a:t>
            </a:r>
            <a:r>
              <a:rPr sz="1400" dirty="0" err="1"/>
              <a:t>Obiettivo</a:t>
            </a:r>
            <a:r>
              <a:rPr sz="1400" dirty="0"/>
              <a:t>: </a:t>
            </a:r>
            <a:r>
              <a:rPr sz="1400" dirty="0" err="1"/>
              <a:t>Classificare</a:t>
            </a:r>
            <a:r>
              <a:rPr sz="1400" dirty="0"/>
              <a:t> </a:t>
            </a:r>
            <a:r>
              <a:rPr sz="1400" dirty="0" err="1"/>
              <a:t>i</a:t>
            </a:r>
            <a:r>
              <a:rPr sz="1400" dirty="0"/>
              <a:t> </a:t>
            </a:r>
            <a:r>
              <a:rPr sz="1400" dirty="0" err="1"/>
              <a:t>fiori</a:t>
            </a:r>
            <a:r>
              <a:rPr sz="1400" dirty="0"/>
              <a:t> iris in 3 </a:t>
            </a:r>
            <a:r>
              <a:rPr sz="1400" dirty="0" err="1"/>
              <a:t>categorie</a:t>
            </a:r>
            <a:endParaRPr sz="14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400" dirty="0"/>
              <a:t>📊 Dataset: 150 </a:t>
            </a:r>
            <a:r>
              <a:rPr sz="1400" dirty="0" err="1"/>
              <a:t>campioni</a:t>
            </a:r>
            <a:r>
              <a:rPr sz="1400" dirty="0"/>
              <a:t>, 4 features (</a:t>
            </a:r>
            <a:r>
              <a:rPr sz="1400" dirty="0" err="1"/>
              <a:t>lunghezza</a:t>
            </a:r>
            <a:r>
              <a:rPr sz="1400" dirty="0"/>
              <a:t> </a:t>
            </a:r>
            <a:r>
              <a:rPr sz="1400" dirty="0" err="1"/>
              <a:t>sepali</a:t>
            </a:r>
            <a:r>
              <a:rPr sz="1400" dirty="0"/>
              <a:t>, </a:t>
            </a:r>
            <a:r>
              <a:rPr sz="1400" dirty="0" err="1"/>
              <a:t>petali</a:t>
            </a:r>
            <a:r>
              <a:rPr sz="1400" dirty="0"/>
              <a:t>, </a:t>
            </a:r>
            <a:r>
              <a:rPr sz="1400" dirty="0" err="1"/>
              <a:t>etc</a:t>
            </a:r>
            <a:r>
              <a:rPr sz="1400"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sz="14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sz="1400" dirty="0"/>
              <a:t># </a:t>
            </a:r>
            <a:r>
              <a:rPr sz="1400" dirty="0"/>
              <a:t>Step 1: Carica </a:t>
            </a:r>
            <a:r>
              <a:rPr sz="1400" dirty="0" err="1"/>
              <a:t>dati</a:t>
            </a:r>
            <a:endParaRPr sz="14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400" dirty="0"/>
              <a:t>from </a:t>
            </a:r>
            <a:r>
              <a:rPr sz="1400" dirty="0" err="1"/>
              <a:t>sklearn.datasets</a:t>
            </a:r>
            <a:r>
              <a:rPr sz="1400" dirty="0"/>
              <a:t> import </a:t>
            </a:r>
            <a:r>
              <a:rPr sz="1400" dirty="0" err="1"/>
              <a:t>load_iris</a:t>
            </a:r>
            <a:endParaRPr sz="14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400" dirty="0"/>
              <a:t>iris = </a:t>
            </a:r>
            <a:r>
              <a:rPr sz="1400" dirty="0" err="1"/>
              <a:t>load_iris</a:t>
            </a:r>
            <a:r>
              <a:rPr sz="1400" dirty="0"/>
              <a:t>()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400" dirty="0"/>
              <a:t>X, y = </a:t>
            </a:r>
            <a:r>
              <a:rPr sz="1400" dirty="0" err="1"/>
              <a:t>iris.data</a:t>
            </a:r>
            <a:r>
              <a:rPr sz="1400" dirty="0"/>
              <a:t>, </a:t>
            </a:r>
            <a:r>
              <a:rPr sz="1400" dirty="0" err="1"/>
              <a:t>iris.target</a:t>
            </a:r>
            <a:endParaRPr sz="14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sz="14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sz="1400" dirty="0"/>
              <a:t># </a:t>
            </a:r>
            <a:r>
              <a:rPr sz="1400" dirty="0"/>
              <a:t>Step 2: </a:t>
            </a:r>
            <a:r>
              <a:rPr sz="1400" dirty="0" err="1"/>
              <a:t>Dividi</a:t>
            </a:r>
            <a:r>
              <a:rPr sz="1400" dirty="0"/>
              <a:t> train/test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400" dirty="0" err="1"/>
              <a:t>X_train</a:t>
            </a:r>
            <a:r>
              <a:rPr sz="1400" dirty="0"/>
              <a:t>, </a:t>
            </a:r>
            <a:r>
              <a:rPr sz="1400" dirty="0" err="1"/>
              <a:t>X_test</a:t>
            </a:r>
            <a:r>
              <a:rPr sz="1400" dirty="0"/>
              <a:t>, </a:t>
            </a:r>
            <a:r>
              <a:rPr sz="1400" dirty="0" err="1"/>
              <a:t>y_train</a:t>
            </a:r>
            <a:r>
              <a:rPr sz="1400" dirty="0"/>
              <a:t>, </a:t>
            </a:r>
            <a:r>
              <a:rPr sz="1400" dirty="0" err="1"/>
              <a:t>y_test</a:t>
            </a:r>
            <a:r>
              <a:rPr sz="1400" dirty="0"/>
              <a:t> = </a:t>
            </a:r>
            <a:r>
              <a:rPr sz="1400" dirty="0" err="1"/>
              <a:t>train_test_split</a:t>
            </a:r>
            <a:r>
              <a:rPr sz="1400" dirty="0"/>
              <a:t>(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400" dirty="0"/>
              <a:t>    X, y, </a:t>
            </a:r>
            <a:r>
              <a:rPr sz="1400" dirty="0" err="1"/>
              <a:t>test_size</a:t>
            </a:r>
            <a:r>
              <a:rPr sz="1400" dirty="0"/>
              <a:t>=0.2, </a:t>
            </a:r>
            <a:r>
              <a:rPr sz="1400" dirty="0" err="1"/>
              <a:t>random_state</a:t>
            </a:r>
            <a:r>
              <a:rPr sz="1400" dirty="0"/>
              <a:t>=42)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</a:defRPr>
            </a:pPr>
            <a:r>
              <a:rPr sz="3200" dirty="0"/>
              <a:t>ESERCIZIO 1: </a:t>
            </a:r>
            <a:r>
              <a:rPr sz="3200" dirty="0" err="1"/>
              <a:t>Classificazione</a:t>
            </a:r>
            <a:r>
              <a:rPr sz="3200" dirty="0"/>
              <a:t> Iris (</a:t>
            </a:r>
            <a:r>
              <a:rPr sz="3200" dirty="0" err="1"/>
              <a:t>Parte</a:t>
            </a:r>
            <a:r>
              <a:rPr sz="3200" dirty="0"/>
              <a:t>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8412480" cy="3521413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3241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sz="1400" dirty="0"/>
              <a:t># </a:t>
            </a:r>
            <a:r>
              <a:rPr sz="1400" dirty="0"/>
              <a:t>Step 3: Scala features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400" dirty="0"/>
              <a:t>scaler = </a:t>
            </a:r>
            <a:r>
              <a:rPr sz="1400" dirty="0" err="1"/>
              <a:t>StandardScaler</a:t>
            </a:r>
            <a:r>
              <a:rPr sz="1400" dirty="0"/>
              <a:t>()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400" dirty="0"/>
              <a:t>X_train_scaled = </a:t>
            </a:r>
            <a:r>
              <a:rPr sz="1400" dirty="0" err="1"/>
              <a:t>scaler.fit_transform</a:t>
            </a:r>
            <a:r>
              <a:rPr sz="1400" dirty="0"/>
              <a:t>(</a:t>
            </a:r>
            <a:r>
              <a:rPr sz="1400" dirty="0" err="1"/>
              <a:t>X_train</a:t>
            </a:r>
            <a:r>
              <a:rPr sz="1400"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400" dirty="0" err="1"/>
              <a:t>X_test_scaled</a:t>
            </a:r>
            <a:r>
              <a:rPr sz="1400" dirty="0"/>
              <a:t> = </a:t>
            </a:r>
            <a:r>
              <a:rPr sz="1400" dirty="0" err="1"/>
              <a:t>scaler.transform</a:t>
            </a:r>
            <a:r>
              <a:rPr sz="1400" dirty="0"/>
              <a:t>(</a:t>
            </a:r>
            <a:r>
              <a:rPr sz="1400" dirty="0" err="1"/>
              <a:t>X_test</a:t>
            </a:r>
            <a:r>
              <a:rPr sz="1400"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sz="14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sz="1400" dirty="0"/>
              <a:t># </a:t>
            </a:r>
            <a:r>
              <a:rPr sz="1400" dirty="0"/>
              <a:t>Step 4: Allena Decision Tree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400" dirty="0"/>
              <a:t>dt = </a:t>
            </a:r>
            <a:r>
              <a:rPr sz="1400" dirty="0" err="1"/>
              <a:t>DecisionTreeClassifier</a:t>
            </a:r>
            <a:r>
              <a:rPr sz="1400" dirty="0"/>
              <a:t>(</a:t>
            </a:r>
            <a:r>
              <a:rPr sz="1400" dirty="0" err="1"/>
              <a:t>max_depth</a:t>
            </a:r>
            <a:r>
              <a:rPr sz="1400" dirty="0"/>
              <a:t>=5, </a:t>
            </a:r>
            <a:r>
              <a:rPr sz="1400" dirty="0" err="1"/>
              <a:t>random_state</a:t>
            </a:r>
            <a:r>
              <a:rPr sz="1400" dirty="0"/>
              <a:t>=42)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400" dirty="0" err="1"/>
              <a:t>dt.fit</a:t>
            </a:r>
            <a:r>
              <a:rPr sz="1400" dirty="0"/>
              <a:t>(X_train_scaled, </a:t>
            </a:r>
            <a:r>
              <a:rPr sz="1400" dirty="0" err="1"/>
              <a:t>y_train</a:t>
            </a:r>
            <a:r>
              <a:rPr sz="1400"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400" dirty="0" err="1"/>
              <a:t>dt_score</a:t>
            </a:r>
            <a:r>
              <a:rPr sz="1400" dirty="0"/>
              <a:t> = </a:t>
            </a:r>
            <a:r>
              <a:rPr sz="1400" dirty="0" err="1"/>
              <a:t>dt.score</a:t>
            </a:r>
            <a:r>
              <a:rPr sz="1400" dirty="0"/>
              <a:t>(</a:t>
            </a:r>
            <a:r>
              <a:rPr sz="1400" dirty="0" err="1"/>
              <a:t>X_test_scaled</a:t>
            </a:r>
            <a:r>
              <a:rPr sz="1400" dirty="0"/>
              <a:t>, </a:t>
            </a:r>
            <a:r>
              <a:rPr sz="1400" dirty="0" err="1"/>
              <a:t>y_test</a:t>
            </a:r>
            <a:r>
              <a:rPr sz="1400"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400" dirty="0"/>
              <a:t>print(</a:t>
            </a:r>
            <a:r>
              <a:rPr sz="1400" dirty="0" err="1"/>
              <a:t>f'Decision</a:t>
            </a:r>
            <a:r>
              <a:rPr sz="1400" dirty="0"/>
              <a:t> Tree Accuracy: {dt_score:.3f}')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sz="14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400" dirty="0"/>
              <a:t>💡 </a:t>
            </a:r>
            <a:r>
              <a:rPr sz="1400" dirty="0" err="1"/>
              <a:t>Prova</a:t>
            </a:r>
            <a:r>
              <a:rPr sz="1400" dirty="0"/>
              <a:t> </a:t>
            </a:r>
            <a:r>
              <a:rPr sz="1400" dirty="0" err="1"/>
              <a:t>anche</a:t>
            </a:r>
            <a:r>
              <a:rPr sz="1400" dirty="0"/>
              <a:t> </a:t>
            </a:r>
            <a:r>
              <a:rPr sz="1400" dirty="0" err="1"/>
              <a:t>RandomForestClassifier</a:t>
            </a:r>
            <a:r>
              <a:rPr sz="1400" dirty="0"/>
              <a:t>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</a:defRPr>
            </a:pPr>
            <a:r>
              <a:rPr sz="3200" dirty="0"/>
              <a:t>Pipeline: </a:t>
            </a:r>
            <a:r>
              <a:rPr sz="3200" dirty="0" err="1"/>
              <a:t>Automatizzare</a:t>
            </a:r>
            <a:r>
              <a:rPr sz="3200" dirty="0"/>
              <a:t> il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368000"/>
            <a:ext cx="8412480" cy="298800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28791"/>
            <a:ext cx="8046720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from </a:t>
            </a:r>
            <a:r>
              <a:rPr dirty="0" err="1"/>
              <a:t>sklearn.pipeline</a:t>
            </a:r>
            <a:r>
              <a:rPr dirty="0"/>
              <a:t> import Pipeline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# SENZA Pipeline</a:t>
            </a:r>
            <a:r>
              <a:rPr lang="it-IT" dirty="0"/>
              <a:t> dovremmo fare</a:t>
            </a:r>
            <a:r>
              <a:rPr dirty="0"/>
              <a:t>: </a:t>
            </a:r>
            <a:r>
              <a:rPr dirty="0" err="1"/>
              <a:t>fit_transform</a:t>
            </a:r>
            <a:r>
              <a:rPr dirty="0"/>
              <a:t> → fit → predict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# CON Pipeline: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riga</a:t>
            </a:r>
            <a:r>
              <a:rPr dirty="0"/>
              <a:t> sola!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pipe = Pipeline([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    (</a:t>
            </a:r>
            <a:r>
              <a:rPr dirty="0">
                <a:solidFill>
                  <a:srgbClr val="FFFF00"/>
                </a:solidFill>
              </a:rPr>
              <a:t>'scaler'</a:t>
            </a:r>
            <a:r>
              <a:rPr dirty="0"/>
              <a:t>, </a:t>
            </a:r>
            <a:r>
              <a:rPr dirty="0" err="1"/>
              <a:t>StandardScaler</a:t>
            </a:r>
            <a:r>
              <a:rPr dirty="0"/>
              <a:t>()),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    (</a:t>
            </a:r>
            <a:r>
              <a:rPr dirty="0">
                <a:solidFill>
                  <a:srgbClr val="FFFF00"/>
                </a:solidFill>
              </a:rPr>
              <a:t>'model'</a:t>
            </a:r>
            <a:r>
              <a:rPr dirty="0"/>
              <a:t>, </a:t>
            </a:r>
            <a:r>
              <a:rPr dirty="0" err="1"/>
              <a:t>RandomForestClassifier</a:t>
            </a:r>
            <a:r>
              <a:rPr dirty="0"/>
              <a:t>(</a:t>
            </a:r>
            <a:r>
              <a:rPr dirty="0" err="1"/>
              <a:t>n_estimators</a:t>
            </a:r>
            <a:r>
              <a:rPr dirty="0"/>
              <a:t>=</a:t>
            </a:r>
            <a:r>
              <a:rPr dirty="0">
                <a:solidFill>
                  <a:srgbClr val="FFC000"/>
                </a:solidFill>
              </a:rPr>
              <a:t>100</a:t>
            </a:r>
            <a:r>
              <a:rPr dirty="0"/>
              <a:t>))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])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 err="1"/>
              <a:t>pipe.fit</a:t>
            </a:r>
            <a:r>
              <a:rPr dirty="0"/>
              <a:t>(</a:t>
            </a:r>
            <a:r>
              <a:rPr dirty="0" err="1"/>
              <a:t>X_train</a:t>
            </a:r>
            <a:r>
              <a:rPr dirty="0"/>
              <a:t>, </a:t>
            </a:r>
            <a:r>
              <a:rPr dirty="0" err="1"/>
              <a:t>y_train</a:t>
            </a:r>
            <a:r>
              <a:rPr dirty="0"/>
              <a:t>)</a:t>
            </a:r>
            <a:r>
              <a:rPr lang="it-IT" dirty="0"/>
              <a:t>			# fa </a:t>
            </a:r>
            <a:r>
              <a:rPr lang="it-IT" dirty="0" err="1"/>
              <a:t>fit</a:t>
            </a:r>
            <a:r>
              <a:rPr lang="it-IT" dirty="0"/>
              <a:t> di </a:t>
            </a:r>
            <a:r>
              <a:rPr lang="it-IT" dirty="0" err="1"/>
              <a:t>scaler</a:t>
            </a:r>
            <a:r>
              <a:rPr lang="it-IT" dirty="0"/>
              <a:t> + modello in sequenza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score = </a:t>
            </a:r>
            <a:r>
              <a:rPr dirty="0" err="1"/>
              <a:t>pipe.score</a:t>
            </a:r>
            <a:r>
              <a:rPr dirty="0"/>
              <a:t>(</a:t>
            </a:r>
            <a:r>
              <a:rPr dirty="0" err="1"/>
              <a:t>X_test</a:t>
            </a:r>
            <a:r>
              <a:rPr dirty="0"/>
              <a:t>, </a:t>
            </a:r>
            <a:r>
              <a:rPr dirty="0" err="1"/>
              <a:t>y_test</a:t>
            </a:r>
            <a:r>
              <a:rPr dirty="0"/>
              <a:t>)</a:t>
            </a:r>
            <a:r>
              <a:rPr lang="it-IT" dirty="0"/>
              <a:t>	# scala </a:t>
            </a:r>
            <a:r>
              <a:rPr lang="it-IT" dirty="0" err="1"/>
              <a:t>X_test</a:t>
            </a:r>
            <a:r>
              <a:rPr lang="it-IT" dirty="0"/>
              <a:t> e valuta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 err="1"/>
              <a:t>y_pred</a:t>
            </a:r>
            <a:r>
              <a:rPr dirty="0"/>
              <a:t> = </a:t>
            </a:r>
            <a:r>
              <a:rPr dirty="0" err="1"/>
              <a:t>pipe.predict</a:t>
            </a:r>
            <a:r>
              <a:rPr dirty="0"/>
              <a:t>(</a:t>
            </a:r>
            <a:r>
              <a:rPr dirty="0" err="1"/>
              <a:t>X_test</a:t>
            </a:r>
            <a:r>
              <a:rPr dirty="0"/>
              <a:t>)</a:t>
            </a:r>
            <a:r>
              <a:rPr lang="it-IT" dirty="0"/>
              <a:t>		# scala </a:t>
            </a:r>
            <a:r>
              <a:rPr lang="it-IT" dirty="0" err="1"/>
              <a:t>X_test</a:t>
            </a:r>
            <a:r>
              <a:rPr lang="it-IT" dirty="0"/>
              <a:t> e predice</a:t>
            </a:r>
            <a:endParaRPr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3C56BFD-11A3-3F5F-C206-5CA511035E66}"/>
              </a:ext>
            </a:extLst>
          </p:cNvPr>
          <p:cNvSpPr txBox="1"/>
          <p:nvPr/>
        </p:nvSpPr>
        <p:spPr>
          <a:xfrm>
            <a:off x="502920" y="902397"/>
            <a:ext cx="8138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Utilizziamo la Pipeline per automatizzare il flusso: scaling + classificazione con Random </a:t>
            </a:r>
            <a:r>
              <a:rPr lang="it-IT" sz="1600" dirty="0" err="1">
                <a:solidFill>
                  <a:schemeClr val="bg1">
                    <a:lumMod val="95000"/>
                  </a:schemeClr>
                </a:solidFill>
              </a:rPr>
              <a:t>Forest</a:t>
            </a:r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B6EAC10-ACFB-EB89-E77C-5126540A0921}"/>
              </a:ext>
            </a:extLst>
          </p:cNvPr>
          <p:cNvSpPr txBox="1"/>
          <p:nvPr/>
        </p:nvSpPr>
        <p:spPr>
          <a:xfrm>
            <a:off x="480060" y="4424850"/>
            <a:ext cx="8183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b="0" i="0" dirty="0">
                <a:solidFill>
                  <a:schemeClr val="bg1">
                    <a:lumMod val="95000"/>
                  </a:schemeClr>
                </a:solidFill>
                <a:effectLst/>
                <a:latin typeface="fkGroteskNeue"/>
              </a:rPr>
              <a:t>Collega il </a:t>
            </a:r>
            <a:r>
              <a:rPr lang="it-IT" sz="14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fkGroteskNeue"/>
              </a:rPr>
              <a:t>preprocessing</a:t>
            </a:r>
            <a:r>
              <a:rPr lang="it-IT" sz="1400" b="0" i="0" dirty="0">
                <a:solidFill>
                  <a:schemeClr val="bg1">
                    <a:lumMod val="95000"/>
                  </a:schemeClr>
                </a:solidFill>
                <a:effectLst/>
                <a:latin typeface="fkGroteskNeue"/>
              </a:rPr>
              <a:t> e il modello in un’unica “catena”; quando avvia </a:t>
            </a:r>
            <a:r>
              <a:rPr lang="it-IT" sz="14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berkeleyMono"/>
              </a:rPr>
              <a:t>fit</a:t>
            </a:r>
            <a:r>
              <a:rPr lang="it-IT" sz="1400" b="0" i="0" dirty="0">
                <a:solidFill>
                  <a:schemeClr val="bg1">
                    <a:lumMod val="95000"/>
                  </a:schemeClr>
                </a:solidFill>
                <a:effectLst/>
                <a:latin typeface="fkGroteskNeue"/>
              </a:rPr>
              <a:t>, </a:t>
            </a:r>
            <a:r>
              <a:rPr lang="it-IT" sz="14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berkeleyMono"/>
              </a:rPr>
              <a:t>predict</a:t>
            </a:r>
            <a:r>
              <a:rPr lang="it-IT" sz="1400" b="0" i="0" dirty="0">
                <a:solidFill>
                  <a:schemeClr val="bg1">
                    <a:lumMod val="95000"/>
                  </a:schemeClr>
                </a:solidFill>
                <a:effectLst/>
                <a:latin typeface="fkGroteskNeue"/>
              </a:rPr>
              <a:t> o </a:t>
            </a:r>
            <a:r>
              <a:rPr lang="it-IT" sz="1400" b="0" i="0" dirty="0">
                <a:solidFill>
                  <a:schemeClr val="bg1">
                    <a:lumMod val="95000"/>
                  </a:schemeClr>
                </a:solidFill>
                <a:effectLst/>
                <a:latin typeface="berkeleyMono"/>
              </a:rPr>
              <a:t>score</a:t>
            </a:r>
            <a:r>
              <a:rPr lang="it-IT" sz="1400" b="0" i="0" dirty="0">
                <a:solidFill>
                  <a:schemeClr val="bg1">
                    <a:lumMod val="95000"/>
                  </a:schemeClr>
                </a:solidFill>
                <a:effectLst/>
                <a:latin typeface="fkGroteskNeue"/>
              </a:rPr>
              <a:t>, la Pipeline esegue automaticamente tutti i passi nell’ordine giusto, evitando errori e data leakage.</a:t>
            </a:r>
            <a:endParaRPr lang="it-IT" sz="14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</a:defRPr>
            </a:pPr>
            <a:r>
              <a:rPr sz="3200" dirty="0" err="1"/>
              <a:t>FeatureUnion</a:t>
            </a:r>
            <a:r>
              <a:rPr sz="3200" dirty="0"/>
              <a:t>: </a:t>
            </a:r>
            <a:r>
              <a:rPr sz="3200" dirty="0" err="1"/>
              <a:t>Combinare</a:t>
            </a:r>
            <a:r>
              <a:rPr sz="3200" dirty="0"/>
              <a:t>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588124"/>
            <a:ext cx="8412480" cy="3349635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596060"/>
            <a:ext cx="8046720" cy="3349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from </a:t>
            </a:r>
            <a:r>
              <a:rPr dirty="0" err="1"/>
              <a:t>sklearn.pipeline</a:t>
            </a:r>
            <a:r>
              <a:rPr dirty="0"/>
              <a:t> import </a:t>
            </a:r>
            <a:r>
              <a:rPr dirty="0" err="1"/>
              <a:t>FeatureUnion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from </a:t>
            </a:r>
            <a:r>
              <a:rPr dirty="0" err="1"/>
              <a:t>sklearn.decomposition</a:t>
            </a:r>
            <a:r>
              <a:rPr dirty="0"/>
              <a:t> import PCA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# </a:t>
            </a:r>
            <a:r>
              <a:rPr dirty="0" err="1"/>
              <a:t>Combina</a:t>
            </a:r>
            <a:r>
              <a:rPr dirty="0"/>
              <a:t>: scaled features + PCA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union = </a:t>
            </a:r>
            <a:r>
              <a:rPr dirty="0" err="1"/>
              <a:t>FeatureUnion</a:t>
            </a:r>
            <a:r>
              <a:rPr dirty="0"/>
              <a:t>([</a:t>
            </a:r>
            <a:r>
              <a:rPr lang="it-IT" dirty="0"/>
              <a:t>			# </a:t>
            </a:r>
            <a:r>
              <a:rPr lang="it-IT" sz="1100" dirty="0"/>
              <a:t>mette insieme (concatena per colonne) questi output: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sz="1100" dirty="0"/>
              <a:t>							  hai sia le feature scalate originali sia le 2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sz="1100" dirty="0"/>
              <a:t>							  componenti PCA in un unico </a:t>
            </a:r>
            <a:r>
              <a:rPr lang="it-IT" sz="1100" dirty="0" err="1"/>
              <a:t>X_combined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    ('scaled', </a:t>
            </a:r>
            <a:r>
              <a:rPr dirty="0" err="1"/>
              <a:t>StandardScaler</a:t>
            </a:r>
            <a:r>
              <a:rPr dirty="0"/>
              <a:t>()),</a:t>
            </a:r>
            <a:r>
              <a:rPr lang="it-IT" dirty="0"/>
              <a:t>	# </a:t>
            </a:r>
            <a:r>
              <a:rPr lang="it-IT" sz="1100" dirty="0"/>
              <a:t>produce le feature scalate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    ('</a:t>
            </a:r>
            <a:r>
              <a:rPr dirty="0" err="1"/>
              <a:t>pca</a:t>
            </a:r>
            <a:r>
              <a:rPr dirty="0"/>
              <a:t>', PCA(</a:t>
            </a:r>
            <a:r>
              <a:rPr dirty="0" err="1"/>
              <a:t>n_components</a:t>
            </a:r>
            <a:r>
              <a:rPr dirty="0"/>
              <a:t>=2))</a:t>
            </a:r>
            <a:r>
              <a:rPr lang="it-IT" dirty="0"/>
              <a:t>		# </a:t>
            </a:r>
            <a:r>
              <a:rPr lang="it-IT" sz="1100" dirty="0"/>
              <a:t>produce 2 nuove feature “riassuntive”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])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 err="1"/>
              <a:t>X_combined</a:t>
            </a:r>
            <a:r>
              <a:rPr dirty="0"/>
              <a:t> = </a:t>
            </a:r>
            <a:r>
              <a:rPr dirty="0" err="1"/>
              <a:t>union.fit_transform</a:t>
            </a:r>
            <a:r>
              <a:rPr dirty="0"/>
              <a:t>(</a:t>
            </a:r>
            <a:r>
              <a:rPr dirty="0" err="1"/>
              <a:t>X_train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print(</a:t>
            </a:r>
            <a:r>
              <a:rPr dirty="0" err="1"/>
              <a:t>f'Features</a:t>
            </a:r>
            <a:r>
              <a:rPr dirty="0"/>
              <a:t> combinate: {</a:t>
            </a:r>
            <a:r>
              <a:rPr dirty="0" err="1"/>
              <a:t>X_combined.shape</a:t>
            </a:r>
            <a:r>
              <a:rPr dirty="0"/>
              <a:t>[1]}')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# Utile per ensemble: </a:t>
            </a:r>
            <a:r>
              <a:rPr dirty="0" err="1"/>
              <a:t>combina</a:t>
            </a:r>
            <a:r>
              <a:rPr dirty="0"/>
              <a:t> preprocessing </a:t>
            </a:r>
            <a:r>
              <a:rPr dirty="0" err="1"/>
              <a:t>diversi</a:t>
            </a:r>
            <a:endParaRPr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2917BAB-3275-C025-4723-AFF9CD874B16}"/>
              </a:ext>
            </a:extLst>
          </p:cNvPr>
          <p:cNvSpPr txBox="1"/>
          <p:nvPr/>
        </p:nvSpPr>
        <p:spPr>
          <a:xfrm>
            <a:off x="457200" y="772441"/>
            <a:ext cx="80467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>
                <a:solidFill>
                  <a:schemeClr val="bg1">
                    <a:lumMod val="95000"/>
                  </a:schemeClr>
                </a:solidFill>
              </a:rPr>
              <a:t>Combina più trasformazioni delle feature in parallelo per ottenere un unico matrice </a:t>
            </a:r>
            <a:r>
              <a:rPr lang="it-IT" sz="1400" dirty="0" err="1">
                <a:solidFill>
                  <a:schemeClr val="bg1">
                    <a:lumMod val="95000"/>
                  </a:schemeClr>
                </a:solidFill>
              </a:rPr>
              <a:t>X_combined</a:t>
            </a:r>
            <a:r>
              <a:rPr lang="it-IT" sz="1400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  <a:p>
            <a:r>
              <a:rPr lang="it-IT" sz="1400" dirty="0">
                <a:solidFill>
                  <a:schemeClr val="bg1">
                    <a:lumMod val="95000"/>
                  </a:schemeClr>
                </a:solidFill>
              </a:rPr>
              <a:t>È utile quando si vuol dare al modello diverse rappresentazioni degli stessi dati (es. originali + PCA, originali + statistiche derivate) senza scrivere tutta la logica di concatenazione.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</a:defRPr>
            </a:pPr>
            <a:r>
              <a:rPr sz="3200" dirty="0"/>
              <a:t>ESERCIZIO 2: Titanic - Data + Preprocessing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8412480" cy="402336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📌 </a:t>
            </a:r>
            <a:r>
              <a:rPr dirty="0" err="1"/>
              <a:t>Obiettivo</a:t>
            </a:r>
            <a:r>
              <a:rPr dirty="0"/>
              <a:t>: </a:t>
            </a:r>
            <a:r>
              <a:rPr dirty="0" err="1"/>
              <a:t>Predire</a:t>
            </a:r>
            <a:r>
              <a:rPr dirty="0"/>
              <a:t> chi è </a:t>
            </a:r>
            <a:r>
              <a:rPr dirty="0" err="1"/>
              <a:t>sopravvissuto</a:t>
            </a:r>
            <a:r>
              <a:rPr dirty="0"/>
              <a:t> al Titanic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📊 Features: Age, Sex, Fare, </a:t>
            </a:r>
            <a:r>
              <a:rPr dirty="0" err="1"/>
              <a:t>Pclass</a:t>
            </a:r>
            <a:r>
              <a:rPr dirty="0"/>
              <a:t>, Embarked, </a:t>
            </a:r>
            <a:r>
              <a:rPr dirty="0" err="1"/>
              <a:t>etc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dirty="0"/>
              <a:t># </a:t>
            </a:r>
            <a:r>
              <a:rPr dirty="0"/>
              <a:t>Step 1: Carica con Pandas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import pandas as pd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 err="1"/>
              <a:t>df</a:t>
            </a:r>
            <a:r>
              <a:rPr dirty="0"/>
              <a:t> = </a:t>
            </a:r>
            <a:r>
              <a:rPr dirty="0" err="1"/>
              <a:t>pd.read_csv</a:t>
            </a:r>
            <a:r>
              <a:rPr dirty="0"/>
              <a:t>('titanic.csv')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dirty="0"/>
              <a:t># </a:t>
            </a:r>
            <a:r>
              <a:rPr dirty="0"/>
              <a:t>Step 2: </a:t>
            </a:r>
            <a:r>
              <a:rPr dirty="0" err="1"/>
              <a:t>Gestisci</a:t>
            </a:r>
            <a:r>
              <a:rPr dirty="0"/>
              <a:t> missing values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en-US" dirty="0" err="1"/>
              <a:t>df</a:t>
            </a:r>
            <a:r>
              <a:rPr lang="en-US" dirty="0"/>
              <a:t>["Age"] = </a:t>
            </a:r>
            <a:r>
              <a:rPr lang="en-US" dirty="0" err="1"/>
              <a:t>df</a:t>
            </a:r>
            <a:r>
              <a:rPr lang="en-US" dirty="0"/>
              <a:t>["Age"].</a:t>
            </a:r>
            <a:r>
              <a:rPr lang="en-US" dirty="0" err="1"/>
              <a:t>fillna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["Age"].median())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dirty="0" err="1"/>
              <a:t>df</a:t>
            </a:r>
            <a:r>
              <a:rPr lang="it-IT" dirty="0"/>
              <a:t>["</a:t>
            </a:r>
            <a:r>
              <a:rPr lang="it-IT" dirty="0" err="1"/>
              <a:t>Embarked</a:t>
            </a:r>
            <a:r>
              <a:rPr lang="it-IT" dirty="0"/>
              <a:t>"] = </a:t>
            </a:r>
            <a:r>
              <a:rPr lang="it-IT" dirty="0" err="1"/>
              <a:t>df</a:t>
            </a:r>
            <a:r>
              <a:rPr lang="it-IT" dirty="0"/>
              <a:t>["</a:t>
            </a:r>
            <a:r>
              <a:rPr lang="it-IT" dirty="0" err="1"/>
              <a:t>Embarked</a:t>
            </a:r>
            <a:r>
              <a:rPr lang="it-IT" dirty="0"/>
              <a:t>"].</a:t>
            </a:r>
            <a:r>
              <a:rPr lang="it-IT" dirty="0" err="1"/>
              <a:t>fillna</a:t>
            </a:r>
            <a:r>
              <a:rPr lang="it-IT" dirty="0"/>
              <a:t>(</a:t>
            </a:r>
            <a:r>
              <a:rPr lang="it-IT" dirty="0" err="1"/>
              <a:t>df</a:t>
            </a:r>
            <a:r>
              <a:rPr lang="it-IT" dirty="0"/>
              <a:t>["</a:t>
            </a:r>
            <a:r>
              <a:rPr lang="it-IT" dirty="0" err="1"/>
              <a:t>Embarked</a:t>
            </a:r>
            <a:r>
              <a:rPr lang="it-IT" dirty="0"/>
              <a:t>"].mode()[0])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dirty="0"/>
              <a:t># </a:t>
            </a:r>
            <a:r>
              <a:rPr dirty="0"/>
              <a:t>Step 3: Encoding </a:t>
            </a:r>
            <a:r>
              <a:rPr dirty="0" err="1"/>
              <a:t>categoriche</a:t>
            </a:r>
            <a:r>
              <a:rPr dirty="0"/>
              <a:t> (Sex, Embarked)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from </a:t>
            </a:r>
            <a:r>
              <a:rPr dirty="0" err="1"/>
              <a:t>sklearn.preprocessing</a:t>
            </a:r>
            <a:r>
              <a:rPr dirty="0"/>
              <a:t> import </a:t>
            </a:r>
            <a:r>
              <a:rPr dirty="0" err="1"/>
              <a:t>LabelEncoder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</a:defRPr>
            </a:pPr>
            <a:r>
              <a:rPr sz="3200" dirty="0"/>
              <a:t>ESERCIZIO 2: Titanic - </a:t>
            </a:r>
            <a:r>
              <a:rPr sz="3200" dirty="0" err="1"/>
              <a:t>Classificazione</a:t>
            </a:r>
            <a:endParaRPr sz="3200" dirty="0"/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8412480" cy="402336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3790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dirty="0"/>
              <a:t># </a:t>
            </a:r>
            <a:r>
              <a:rPr dirty="0"/>
              <a:t>Step 4: </a:t>
            </a:r>
            <a:r>
              <a:rPr dirty="0" err="1"/>
              <a:t>Prepara</a:t>
            </a:r>
            <a:r>
              <a:rPr dirty="0"/>
              <a:t> X, 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X = </a:t>
            </a:r>
            <a:r>
              <a:rPr dirty="0" err="1"/>
              <a:t>df</a:t>
            </a:r>
            <a:r>
              <a:rPr dirty="0"/>
              <a:t>[['Age', 'Fare', '</a:t>
            </a:r>
            <a:r>
              <a:rPr dirty="0" err="1"/>
              <a:t>Pclass</a:t>
            </a:r>
            <a:r>
              <a:rPr dirty="0"/>
              <a:t>', '</a:t>
            </a:r>
            <a:r>
              <a:rPr dirty="0" err="1"/>
              <a:t>Sex_encoded</a:t>
            </a:r>
            <a:r>
              <a:rPr dirty="0"/>
              <a:t>']]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y = </a:t>
            </a:r>
            <a:r>
              <a:rPr dirty="0" err="1"/>
              <a:t>df</a:t>
            </a:r>
            <a:r>
              <a:rPr dirty="0"/>
              <a:t>['Survived']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dirty="0"/>
              <a:t># </a:t>
            </a:r>
            <a:r>
              <a:rPr dirty="0"/>
              <a:t>Step 5: Train/Test Split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 err="1"/>
              <a:t>X_train</a:t>
            </a:r>
            <a:r>
              <a:rPr dirty="0"/>
              <a:t>, </a:t>
            </a:r>
            <a:r>
              <a:rPr dirty="0" err="1"/>
              <a:t>X_test</a:t>
            </a:r>
            <a:r>
              <a:rPr dirty="0"/>
              <a:t>, </a:t>
            </a:r>
            <a:r>
              <a:rPr dirty="0" err="1"/>
              <a:t>y_train</a:t>
            </a:r>
            <a:r>
              <a:rPr dirty="0"/>
              <a:t>, </a:t>
            </a:r>
            <a:r>
              <a:rPr dirty="0" err="1"/>
              <a:t>y_test</a:t>
            </a:r>
            <a:r>
              <a:rPr dirty="0"/>
              <a:t> = </a:t>
            </a:r>
            <a:r>
              <a:rPr dirty="0" err="1"/>
              <a:t>train_test_split</a:t>
            </a:r>
            <a:r>
              <a:rPr dirty="0"/>
              <a:t>(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    X, y, </a:t>
            </a:r>
            <a:r>
              <a:rPr dirty="0" err="1"/>
              <a:t>test_size</a:t>
            </a:r>
            <a:r>
              <a:rPr dirty="0"/>
              <a:t>=0.2, </a:t>
            </a:r>
            <a:r>
              <a:rPr dirty="0" err="1"/>
              <a:t>random_state</a:t>
            </a:r>
            <a:r>
              <a:rPr dirty="0"/>
              <a:t>=42, stratify=y)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dirty="0"/>
              <a:t># Standardizzazione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dirty="0" err="1"/>
              <a:t>scaler</a:t>
            </a:r>
            <a:r>
              <a:rPr lang="it-IT" dirty="0"/>
              <a:t> = </a:t>
            </a:r>
            <a:r>
              <a:rPr lang="it-IT" dirty="0" err="1"/>
              <a:t>StandardScaler</a:t>
            </a:r>
            <a:r>
              <a:rPr lang="it-IT" dirty="0"/>
              <a:t>()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dirty="0" err="1"/>
              <a:t>X_train_scaled</a:t>
            </a:r>
            <a:r>
              <a:rPr lang="it-IT" dirty="0"/>
              <a:t> = </a:t>
            </a:r>
            <a:r>
              <a:rPr lang="it-IT" dirty="0" err="1"/>
              <a:t>scaler.fit_transform</a:t>
            </a:r>
            <a:r>
              <a:rPr lang="it-IT" dirty="0"/>
              <a:t>(</a:t>
            </a:r>
            <a:r>
              <a:rPr lang="it-IT" dirty="0" err="1"/>
              <a:t>X_train</a:t>
            </a:r>
            <a:r>
              <a:rPr lang="it-IT"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dirty="0" err="1"/>
              <a:t>X_test_scaled</a:t>
            </a:r>
            <a:r>
              <a:rPr lang="it-IT" dirty="0"/>
              <a:t> = </a:t>
            </a:r>
            <a:r>
              <a:rPr lang="it-IT" dirty="0" err="1"/>
              <a:t>scaler.transform</a:t>
            </a:r>
            <a:r>
              <a:rPr lang="it-IT" dirty="0"/>
              <a:t>(</a:t>
            </a:r>
            <a:r>
              <a:rPr lang="it-IT" dirty="0" err="1"/>
              <a:t>X_test</a:t>
            </a:r>
            <a:r>
              <a:rPr lang="it-IT"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lang="it-IT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sz="1100" dirty="0"/>
              <a:t># Addestramento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dirty="0"/>
              <a:t>model = </a:t>
            </a:r>
            <a:r>
              <a:rPr lang="it-IT" dirty="0" err="1"/>
              <a:t>RandomForestClassifier</a:t>
            </a:r>
            <a:r>
              <a:rPr lang="it-IT" dirty="0"/>
              <a:t>(</a:t>
            </a:r>
            <a:r>
              <a:rPr lang="it-IT" dirty="0" err="1"/>
              <a:t>n_estimators</a:t>
            </a:r>
            <a:r>
              <a:rPr lang="it-IT" dirty="0"/>
              <a:t>=100, </a:t>
            </a:r>
            <a:r>
              <a:rPr lang="it-IT" dirty="0" err="1"/>
              <a:t>random_state</a:t>
            </a:r>
            <a:r>
              <a:rPr lang="it-IT" dirty="0"/>
              <a:t>=42)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dirty="0" err="1"/>
              <a:t>model.fit</a:t>
            </a:r>
            <a:r>
              <a:rPr lang="it-IT" dirty="0"/>
              <a:t>(</a:t>
            </a:r>
            <a:r>
              <a:rPr lang="it-IT" dirty="0" err="1"/>
              <a:t>X_train_scaled</a:t>
            </a:r>
            <a:r>
              <a:rPr lang="it-IT" dirty="0"/>
              <a:t>, </a:t>
            </a:r>
            <a:r>
              <a:rPr lang="it-IT" dirty="0" err="1"/>
              <a:t>y_train</a:t>
            </a:r>
            <a:r>
              <a:rPr lang="it-IT"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dirty="0" err="1"/>
              <a:t>y_pred</a:t>
            </a:r>
            <a:r>
              <a:rPr lang="it-IT" dirty="0"/>
              <a:t> = </a:t>
            </a:r>
            <a:r>
              <a:rPr lang="it-IT" dirty="0" err="1"/>
              <a:t>model.predict</a:t>
            </a:r>
            <a:r>
              <a:rPr lang="it-IT" dirty="0"/>
              <a:t>(</a:t>
            </a:r>
            <a:r>
              <a:rPr lang="it-IT" dirty="0" err="1"/>
              <a:t>X_test_scaled</a:t>
            </a:r>
            <a:r>
              <a:rPr lang="it-IT" dirty="0"/>
              <a:t>)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</a:defRPr>
            </a:pPr>
            <a:r>
              <a:rPr sz="3200" dirty="0"/>
              <a:t>Model Evaluation: </a:t>
            </a:r>
            <a:r>
              <a:rPr sz="3200" dirty="0" err="1"/>
              <a:t>Metriche</a:t>
            </a:r>
            <a:r>
              <a:rPr sz="3200" dirty="0"/>
              <a:t> </a:t>
            </a:r>
            <a:r>
              <a:rPr sz="3200" dirty="0" err="1"/>
              <a:t>Avanzate</a:t>
            </a:r>
            <a:endParaRPr sz="32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ADB04F4-6246-E45E-5153-E2917AAEEF7E}"/>
              </a:ext>
            </a:extLst>
          </p:cNvPr>
          <p:cNvSpPr txBox="1"/>
          <p:nvPr/>
        </p:nvSpPr>
        <p:spPr>
          <a:xfrm>
            <a:off x="457200" y="859095"/>
            <a:ext cx="8229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Necessario per valutare le prestazioni di un modello di classificazione in Machine Learning, usando metriche avanzate di </a:t>
            </a:r>
            <a:r>
              <a:rPr lang="it-IT" dirty="0" err="1">
                <a:solidFill>
                  <a:schemeClr val="bg1">
                    <a:lumMod val="95000"/>
                  </a:schemeClr>
                </a:solidFill>
                <a:cs typeface="Courier New" panose="02070309020205020404" pitchFamily="49" charset="0"/>
              </a:rPr>
              <a:t>sklearn.metrics</a:t>
            </a:r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  <a:p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Dopo aver addestrato un modello (es. </a:t>
            </a:r>
            <a:r>
              <a:rPr lang="it-IT" dirty="0" err="1">
                <a:solidFill>
                  <a:schemeClr val="bg1">
                    <a:lumMod val="95000"/>
                  </a:schemeClr>
                </a:solidFill>
              </a:rPr>
              <a:t>RandomForest</a:t>
            </a:r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it-IT" dirty="0" err="1">
                <a:solidFill>
                  <a:schemeClr val="bg1">
                    <a:lumMod val="95000"/>
                  </a:schemeClr>
                </a:solidFill>
              </a:rPr>
              <a:t>LogisticRegression</a:t>
            </a:r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, ecc.), dobbiamo sapere quanto è efficace nel fare previsioni su dati mai visti (</a:t>
            </a:r>
            <a:r>
              <a:rPr lang="it-IT" dirty="0" err="1">
                <a:solidFill>
                  <a:schemeClr val="bg1">
                    <a:lumMod val="95000"/>
                  </a:schemeClr>
                </a:solidFill>
                <a:cs typeface="Courier New" panose="02070309020205020404" pitchFamily="49" charset="0"/>
              </a:rPr>
              <a:t>X_test</a:t>
            </a:r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).</a:t>
            </a:r>
          </a:p>
          <a:p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Questo script calcola 5 metriche fondamentali per capire se il modello è buono, mediocre o da migliorare.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61FAED-FCCB-D1AE-F7EB-2CAF01427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89E7D6-CFE3-9A9B-EFBD-C5BE4F160841}"/>
              </a:ext>
            </a:extLst>
          </p:cNvPr>
          <p:cNvSpPr txBox="1"/>
          <p:nvPr/>
        </p:nvSpPr>
        <p:spPr>
          <a:xfrm>
            <a:off x="457200" y="27432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</a:defRPr>
            </a:pPr>
            <a:r>
              <a:rPr sz="3200" dirty="0"/>
              <a:t>Model Evaluation: </a:t>
            </a:r>
            <a:r>
              <a:rPr sz="3200" dirty="0" err="1"/>
              <a:t>Metriche</a:t>
            </a:r>
            <a:r>
              <a:rPr sz="3200" dirty="0"/>
              <a:t> </a:t>
            </a:r>
            <a:r>
              <a:rPr sz="3200" dirty="0" err="1"/>
              <a:t>Avanzate</a:t>
            </a:r>
            <a:endParaRPr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6C1AF8-11CD-586A-D0E8-531BE701C4CA}"/>
              </a:ext>
            </a:extLst>
          </p:cNvPr>
          <p:cNvSpPr/>
          <p:nvPr/>
        </p:nvSpPr>
        <p:spPr>
          <a:xfrm>
            <a:off x="216000" y="928017"/>
            <a:ext cx="8676000" cy="3980577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C503B4-7153-D364-5B2D-C3D1FC885FBA}"/>
              </a:ext>
            </a:extLst>
          </p:cNvPr>
          <p:cNvSpPr txBox="1"/>
          <p:nvPr/>
        </p:nvSpPr>
        <p:spPr>
          <a:xfrm>
            <a:off x="332144" y="985855"/>
            <a:ext cx="8443711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200" dirty="0"/>
              <a:t>from </a:t>
            </a:r>
            <a:r>
              <a:rPr sz="1200" dirty="0" err="1"/>
              <a:t>sklearn.metrics</a:t>
            </a:r>
            <a:r>
              <a:rPr sz="1200" dirty="0"/>
              <a:t> import (</a:t>
            </a:r>
            <a:r>
              <a:rPr sz="1200" dirty="0" err="1"/>
              <a:t>accuracy_score</a:t>
            </a:r>
            <a:r>
              <a:rPr sz="1200" dirty="0"/>
              <a:t>, </a:t>
            </a:r>
            <a:r>
              <a:rPr sz="1200" dirty="0" err="1"/>
              <a:t>precision_score,recall_score</a:t>
            </a:r>
            <a:r>
              <a:rPr sz="1200" dirty="0"/>
              <a:t>, f1_score, </a:t>
            </a:r>
            <a:r>
              <a:rPr sz="1200" dirty="0" err="1"/>
              <a:t>confusion_matrix</a:t>
            </a:r>
            <a:r>
              <a:rPr sz="1200" dirty="0"/>
              <a:t>, </a:t>
            </a:r>
            <a:r>
              <a:rPr sz="1200" dirty="0" err="1"/>
              <a:t>roc_auc_score</a:t>
            </a:r>
            <a:r>
              <a:rPr sz="1200"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sz="12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200" dirty="0"/>
              <a:t># </a:t>
            </a:r>
            <a:r>
              <a:rPr sz="1200" dirty="0" err="1"/>
              <a:t>Predizioni</a:t>
            </a:r>
            <a:endParaRPr sz="12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200" dirty="0" err="1"/>
              <a:t>y_pred</a:t>
            </a:r>
            <a:r>
              <a:rPr sz="1200" dirty="0"/>
              <a:t> = </a:t>
            </a:r>
            <a:r>
              <a:rPr sz="1200" dirty="0" err="1"/>
              <a:t>model.predict</a:t>
            </a:r>
            <a:r>
              <a:rPr sz="1200" dirty="0"/>
              <a:t>(</a:t>
            </a:r>
            <a:r>
              <a:rPr sz="1200" dirty="0" err="1"/>
              <a:t>X_test</a:t>
            </a:r>
            <a:r>
              <a:rPr sz="1200"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200" dirty="0" err="1"/>
              <a:t>y_pred_proba</a:t>
            </a:r>
            <a:r>
              <a:rPr sz="1200" dirty="0"/>
              <a:t> = </a:t>
            </a:r>
            <a:r>
              <a:rPr sz="1200" dirty="0" err="1"/>
              <a:t>model.predict_proba</a:t>
            </a:r>
            <a:r>
              <a:rPr sz="1200" dirty="0"/>
              <a:t>(</a:t>
            </a:r>
            <a:r>
              <a:rPr sz="1200" dirty="0" err="1"/>
              <a:t>X_test</a:t>
            </a:r>
            <a:r>
              <a:rPr sz="1200" dirty="0"/>
              <a:t>)[:, 1]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sz="12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200" dirty="0"/>
              <a:t># </a:t>
            </a:r>
            <a:r>
              <a:rPr sz="1200" dirty="0" err="1"/>
              <a:t>Metriche</a:t>
            </a:r>
            <a:endParaRPr sz="12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200" dirty="0"/>
              <a:t>accuracy = </a:t>
            </a:r>
            <a:r>
              <a:rPr sz="1200" dirty="0" err="1"/>
              <a:t>accuracy_score</a:t>
            </a:r>
            <a:r>
              <a:rPr sz="1200" dirty="0"/>
              <a:t>(</a:t>
            </a:r>
            <a:r>
              <a:rPr sz="1200" dirty="0" err="1"/>
              <a:t>y_test</a:t>
            </a:r>
            <a:r>
              <a:rPr sz="1200" dirty="0"/>
              <a:t>, </a:t>
            </a:r>
            <a:r>
              <a:rPr sz="1200" dirty="0" err="1"/>
              <a:t>y_pred</a:t>
            </a:r>
            <a:r>
              <a:rPr sz="1200" dirty="0"/>
              <a:t>)</a:t>
            </a:r>
            <a:r>
              <a:rPr lang="it-IT" sz="1200" dirty="0"/>
              <a:t>	# Percentuale di previsioni corrette su tutti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sz="1200" dirty="0"/>
              <a:t>									# i casi</a:t>
            </a:r>
            <a:endParaRPr sz="12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200" dirty="0"/>
              <a:t>precision = </a:t>
            </a:r>
            <a:r>
              <a:rPr sz="1200" dirty="0" err="1"/>
              <a:t>precision_score</a:t>
            </a:r>
            <a:r>
              <a:rPr sz="1200" dirty="0"/>
              <a:t>(</a:t>
            </a:r>
            <a:r>
              <a:rPr sz="1200" dirty="0" err="1"/>
              <a:t>y_test</a:t>
            </a:r>
            <a:r>
              <a:rPr sz="1200" dirty="0"/>
              <a:t>, </a:t>
            </a:r>
            <a:r>
              <a:rPr sz="1200" dirty="0" err="1"/>
              <a:t>y_pred</a:t>
            </a:r>
            <a:r>
              <a:rPr sz="1200" dirty="0"/>
              <a:t>)</a:t>
            </a:r>
            <a:r>
              <a:rPr lang="it-IT" sz="1200" dirty="0"/>
              <a:t>	# Quanti dei positivi previsti sono davvero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sz="1200" dirty="0"/>
              <a:t>									# positivi (evita falsi allarmi)</a:t>
            </a:r>
            <a:endParaRPr sz="12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200" dirty="0"/>
              <a:t>recall = </a:t>
            </a:r>
            <a:r>
              <a:rPr sz="1200" dirty="0" err="1"/>
              <a:t>recall_score</a:t>
            </a:r>
            <a:r>
              <a:rPr sz="1200" dirty="0"/>
              <a:t>(</a:t>
            </a:r>
            <a:r>
              <a:rPr sz="1200" dirty="0" err="1"/>
              <a:t>y_test</a:t>
            </a:r>
            <a:r>
              <a:rPr sz="1200" dirty="0"/>
              <a:t>, </a:t>
            </a:r>
            <a:r>
              <a:rPr sz="1200" dirty="0" err="1"/>
              <a:t>y_pred</a:t>
            </a:r>
            <a:r>
              <a:rPr sz="1200" dirty="0"/>
              <a:t>)</a:t>
            </a:r>
            <a:r>
              <a:rPr lang="it-IT" sz="1200" dirty="0"/>
              <a:t>		# Quanti dei veri positivi sono stati trovati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sz="1200" dirty="0"/>
              <a:t>									# (evita falsi negativi)</a:t>
            </a:r>
            <a:endParaRPr sz="12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200" dirty="0"/>
              <a:t>f1 = f1_score(</a:t>
            </a:r>
            <a:r>
              <a:rPr sz="1200" dirty="0" err="1"/>
              <a:t>y_test</a:t>
            </a:r>
            <a:r>
              <a:rPr sz="1200" dirty="0"/>
              <a:t>, </a:t>
            </a:r>
            <a:r>
              <a:rPr sz="1200" dirty="0" err="1"/>
              <a:t>y_pred</a:t>
            </a:r>
            <a:r>
              <a:rPr sz="1200" dirty="0"/>
              <a:t>)</a:t>
            </a:r>
            <a:r>
              <a:rPr lang="it-IT" sz="1200" dirty="0"/>
              <a:t>	# Media armonica tra </a:t>
            </a:r>
            <a:r>
              <a:rPr lang="it-IT" sz="1200" dirty="0" err="1"/>
              <a:t>precision</a:t>
            </a:r>
            <a:r>
              <a:rPr lang="it-IT" sz="1200" dirty="0"/>
              <a:t> e recall (bilancia i due)</a:t>
            </a:r>
            <a:endParaRPr sz="12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200" dirty="0" err="1"/>
              <a:t>auc</a:t>
            </a:r>
            <a:r>
              <a:rPr sz="1200" dirty="0"/>
              <a:t> = </a:t>
            </a:r>
            <a:r>
              <a:rPr sz="1200" dirty="0" err="1"/>
              <a:t>roc_auc_score</a:t>
            </a:r>
            <a:r>
              <a:rPr sz="1200" dirty="0"/>
              <a:t>(</a:t>
            </a:r>
            <a:r>
              <a:rPr sz="1200" dirty="0" err="1"/>
              <a:t>y_test</a:t>
            </a:r>
            <a:r>
              <a:rPr sz="1200" dirty="0"/>
              <a:t>, </a:t>
            </a:r>
            <a:r>
              <a:rPr sz="1200" dirty="0" err="1"/>
              <a:t>y_pred_proba</a:t>
            </a:r>
            <a:r>
              <a:rPr sz="1200" dirty="0"/>
              <a:t>)</a:t>
            </a:r>
            <a:r>
              <a:rPr lang="it-IT" sz="1200" dirty="0"/>
              <a:t>	# Area sotto la curva ROC: misura la capacità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sz="1200" dirty="0"/>
              <a:t>									# del modello di distinguere le classi</a:t>
            </a: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3601166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2982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</a:defRPr>
            </a:pPr>
            <a:r>
              <a:rPr sz="3200" dirty="0"/>
              <a:t>ROC Curve &amp; AUC Score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5221440" cy="402336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079600" cy="312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from </a:t>
            </a:r>
            <a:r>
              <a:rPr dirty="0" err="1"/>
              <a:t>sklearn.metrics</a:t>
            </a:r>
            <a:r>
              <a:rPr dirty="0"/>
              <a:t> import </a:t>
            </a:r>
            <a:r>
              <a:rPr dirty="0" err="1"/>
              <a:t>roc_curve</a:t>
            </a:r>
            <a:r>
              <a:rPr dirty="0"/>
              <a:t>, </a:t>
            </a:r>
            <a:r>
              <a:rPr dirty="0" err="1"/>
              <a:t>auc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# </a:t>
            </a:r>
            <a:r>
              <a:rPr dirty="0" err="1"/>
              <a:t>Calcola</a:t>
            </a:r>
            <a:r>
              <a:rPr dirty="0"/>
              <a:t> ROC curve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 err="1"/>
              <a:t>fpr</a:t>
            </a:r>
            <a:r>
              <a:rPr dirty="0"/>
              <a:t>, </a:t>
            </a:r>
            <a:r>
              <a:rPr dirty="0" err="1"/>
              <a:t>tpr</a:t>
            </a:r>
            <a:r>
              <a:rPr dirty="0"/>
              <a:t>, thresholds = </a:t>
            </a:r>
            <a:r>
              <a:rPr dirty="0" err="1"/>
              <a:t>roc_curve</a:t>
            </a:r>
            <a:r>
              <a:rPr dirty="0"/>
              <a:t>(</a:t>
            </a:r>
            <a:r>
              <a:rPr dirty="0" err="1"/>
              <a:t>y_test</a:t>
            </a:r>
            <a:r>
              <a:rPr dirty="0"/>
              <a:t>, </a:t>
            </a:r>
            <a:r>
              <a:rPr dirty="0" err="1"/>
              <a:t>y_pred_proba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 err="1"/>
              <a:t>auc_score</a:t>
            </a:r>
            <a:r>
              <a:rPr dirty="0"/>
              <a:t> = </a:t>
            </a:r>
            <a:r>
              <a:rPr dirty="0" err="1"/>
              <a:t>auc</a:t>
            </a:r>
            <a:r>
              <a:rPr dirty="0"/>
              <a:t>(</a:t>
            </a:r>
            <a:r>
              <a:rPr dirty="0" err="1"/>
              <a:t>fpr</a:t>
            </a:r>
            <a:r>
              <a:rPr dirty="0"/>
              <a:t>, </a:t>
            </a:r>
            <a:r>
              <a:rPr dirty="0" err="1"/>
              <a:t>tpr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# Plot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 err="1"/>
              <a:t>plt.figure</a:t>
            </a:r>
            <a:r>
              <a:rPr dirty="0"/>
              <a:t>(</a:t>
            </a:r>
            <a:r>
              <a:rPr dirty="0" err="1"/>
              <a:t>figsize</a:t>
            </a:r>
            <a:r>
              <a:rPr dirty="0"/>
              <a:t>=(8, 6))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 err="1"/>
              <a:t>plt.plot</a:t>
            </a:r>
            <a:r>
              <a:rPr dirty="0"/>
              <a:t>(</a:t>
            </a:r>
            <a:r>
              <a:rPr dirty="0" err="1"/>
              <a:t>fpr</a:t>
            </a:r>
            <a:r>
              <a:rPr dirty="0"/>
              <a:t>, </a:t>
            </a:r>
            <a:r>
              <a:rPr dirty="0" err="1"/>
              <a:t>tpr</a:t>
            </a:r>
            <a:r>
              <a:rPr dirty="0"/>
              <a:t>, label=</a:t>
            </a:r>
            <a:r>
              <a:rPr dirty="0" err="1"/>
              <a:t>f'ROC</a:t>
            </a:r>
            <a:r>
              <a:rPr dirty="0"/>
              <a:t> (AUC={auc_score:.3f})')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 err="1"/>
              <a:t>plt.plot</a:t>
            </a:r>
            <a:r>
              <a:rPr dirty="0"/>
              <a:t>([0, 1], [0, 1], 'k--', label='Random Classifier')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 err="1"/>
              <a:t>plt.xlabel</a:t>
            </a:r>
            <a:r>
              <a:rPr dirty="0"/>
              <a:t>('False Positive Rate')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 err="1"/>
              <a:t>plt.ylabel</a:t>
            </a:r>
            <a:r>
              <a:rPr dirty="0"/>
              <a:t>('True Positive Rate')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 err="1"/>
              <a:t>plt.legend</a:t>
            </a:r>
            <a:r>
              <a:rPr dirty="0"/>
              <a:t>()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 err="1"/>
              <a:t>plt.show</a:t>
            </a:r>
            <a:r>
              <a:rPr dirty="0"/>
              <a:t>()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D2E7A16-1249-F042-9C08-90B50753A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8640" y="910867"/>
            <a:ext cx="3401252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fpr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: False Positive Rate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tpr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: True Positive Rate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thresholds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: soglie di decisione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auc_score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: area sotto la curva ROC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39260F-4F78-AE03-FE67-E2636572E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D80988-2D9C-4F24-3854-2A4DF637E0D3}"/>
              </a:ext>
            </a:extLst>
          </p:cNvPr>
          <p:cNvSpPr txBox="1"/>
          <p:nvPr/>
        </p:nvSpPr>
        <p:spPr>
          <a:xfrm>
            <a:off x="457200" y="202982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</a:defRPr>
            </a:pPr>
            <a:r>
              <a:rPr sz="3200" dirty="0"/>
              <a:t>ROC Curve &amp; AUC Score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D23C3EB-1FCC-576E-09DA-59296E513443}"/>
              </a:ext>
            </a:extLst>
          </p:cNvPr>
          <p:cNvSpPr txBox="1"/>
          <p:nvPr/>
        </p:nvSpPr>
        <p:spPr>
          <a:xfrm>
            <a:off x="457200" y="914260"/>
            <a:ext cx="385416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Interpretazione:</a:t>
            </a:r>
          </a:p>
          <a:p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La ROC Curve mostra il compromesso tra </a:t>
            </a:r>
            <a:r>
              <a:rPr lang="it-IT" b="1" dirty="0">
                <a:solidFill>
                  <a:schemeClr val="bg1">
                    <a:lumMod val="95000"/>
                  </a:schemeClr>
                </a:solidFill>
              </a:rPr>
              <a:t>True Positive Rate</a:t>
            </a:r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 e </a:t>
            </a:r>
            <a:r>
              <a:rPr lang="it-IT" b="1" dirty="0">
                <a:solidFill>
                  <a:schemeClr val="bg1">
                    <a:lumMod val="95000"/>
                  </a:schemeClr>
                </a:solidFill>
              </a:rPr>
              <a:t>False Positive Rate.</a:t>
            </a:r>
          </a:p>
          <a:p>
            <a:endParaRPr lang="it-IT" b="1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Una curva più vicina all’angolo in alto a sinistra indica un modello migliore.</a:t>
            </a:r>
          </a:p>
          <a:p>
            <a:endParaRPr lang="it-IT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L’AUC (Area Under Curve) misura la capacità del modello di distinguere le classi: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AUC = 0.5 → modello casuale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AUC = 1.0 → classificazione perfetta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AUC &gt; 0.8 → modello buono </a:t>
            </a:r>
          </a:p>
        </p:txBody>
      </p:sp>
      <p:pic>
        <p:nvPicPr>
          <p:cNvPr id="7" name="Immagine 6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9F35426C-2BD2-74B2-1D41-9554936F9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954" y="1605600"/>
            <a:ext cx="3160481" cy="250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979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0426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</a:defRPr>
            </a:pPr>
            <a:r>
              <a:rPr sz="3200" dirty="0"/>
              <a:t>Confusion Matrix: </a:t>
            </a:r>
            <a:r>
              <a:rPr sz="3200" dirty="0" err="1"/>
              <a:t>Visualizzazione</a:t>
            </a:r>
            <a:endParaRPr sz="3200" dirty="0"/>
          </a:p>
        </p:txBody>
      </p:sp>
      <p:sp>
        <p:nvSpPr>
          <p:cNvPr id="3" name="Rectangle 2"/>
          <p:cNvSpPr/>
          <p:nvPr/>
        </p:nvSpPr>
        <p:spPr>
          <a:xfrm>
            <a:off x="365760" y="1132446"/>
            <a:ext cx="4515840" cy="2932658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156615"/>
            <a:ext cx="4440960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from </a:t>
            </a:r>
            <a:r>
              <a:rPr dirty="0" err="1"/>
              <a:t>sklearn.metrics</a:t>
            </a:r>
            <a:r>
              <a:rPr dirty="0"/>
              <a:t> import </a:t>
            </a:r>
            <a:r>
              <a:rPr dirty="0" err="1"/>
              <a:t>confusion_matrix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import </a:t>
            </a:r>
            <a:r>
              <a:rPr dirty="0" err="1"/>
              <a:t>matplotlib.pyplot</a:t>
            </a:r>
            <a:r>
              <a:rPr dirty="0"/>
              <a:t> as </a:t>
            </a:r>
            <a:r>
              <a:rPr dirty="0" err="1"/>
              <a:t>plt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import seaborn as </a:t>
            </a:r>
            <a:r>
              <a:rPr dirty="0" err="1"/>
              <a:t>sns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cm = </a:t>
            </a:r>
            <a:r>
              <a:rPr dirty="0" err="1"/>
              <a:t>confusion_matrix</a:t>
            </a:r>
            <a:r>
              <a:rPr dirty="0"/>
              <a:t>(</a:t>
            </a:r>
            <a:r>
              <a:rPr dirty="0" err="1"/>
              <a:t>y_test</a:t>
            </a:r>
            <a:r>
              <a:rPr dirty="0"/>
              <a:t>, </a:t>
            </a:r>
            <a:r>
              <a:rPr dirty="0" err="1"/>
              <a:t>y_pred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# </a:t>
            </a:r>
            <a:r>
              <a:rPr dirty="0" err="1"/>
              <a:t>Visualizza</a:t>
            </a:r>
            <a:r>
              <a:rPr dirty="0"/>
              <a:t> heatmap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 err="1"/>
              <a:t>plt.figure</a:t>
            </a:r>
            <a:r>
              <a:rPr dirty="0"/>
              <a:t>(</a:t>
            </a:r>
            <a:r>
              <a:rPr dirty="0" err="1"/>
              <a:t>figsize</a:t>
            </a:r>
            <a:r>
              <a:rPr dirty="0"/>
              <a:t>=(8, 6))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 err="1"/>
              <a:t>sns.heatmap</a:t>
            </a:r>
            <a:r>
              <a:rPr dirty="0"/>
              <a:t>(cm, </a:t>
            </a:r>
            <a:r>
              <a:rPr dirty="0" err="1"/>
              <a:t>annot</a:t>
            </a:r>
            <a:r>
              <a:rPr dirty="0"/>
              <a:t>=True, </a:t>
            </a:r>
            <a:r>
              <a:rPr dirty="0" err="1"/>
              <a:t>fmt</a:t>
            </a:r>
            <a:r>
              <a:rPr dirty="0"/>
              <a:t>='d', </a:t>
            </a:r>
            <a:r>
              <a:rPr dirty="0" err="1"/>
              <a:t>cmap</a:t>
            </a:r>
            <a:r>
              <a:rPr dirty="0"/>
              <a:t>='Blues')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 err="1"/>
              <a:t>plt.xlabel</a:t>
            </a:r>
            <a:r>
              <a:rPr dirty="0"/>
              <a:t>('</a:t>
            </a:r>
            <a:r>
              <a:rPr dirty="0" err="1"/>
              <a:t>Predetto</a:t>
            </a:r>
            <a:r>
              <a:rPr dirty="0"/>
              <a:t>')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 err="1"/>
              <a:t>plt.ylabel</a:t>
            </a:r>
            <a:r>
              <a:rPr dirty="0"/>
              <a:t>('Vero')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 err="1"/>
              <a:t>plt.title</a:t>
            </a:r>
            <a:r>
              <a:rPr dirty="0"/>
              <a:t>('Confusion Matrix')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 err="1"/>
              <a:t>plt.show</a:t>
            </a:r>
            <a:r>
              <a:rPr dirty="0"/>
              <a:t>()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67636C1-80D1-9A02-43A7-6B4A2359B4CF}"/>
              </a:ext>
            </a:extLst>
          </p:cNvPr>
          <p:cNvSpPr txBox="1"/>
          <p:nvPr/>
        </p:nvSpPr>
        <p:spPr>
          <a:xfrm>
            <a:off x="4989600" y="1038561"/>
            <a:ext cx="42163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La </a:t>
            </a:r>
            <a:r>
              <a:rPr lang="it-IT" sz="1600" dirty="0" err="1">
                <a:solidFill>
                  <a:schemeClr val="bg1">
                    <a:lumMod val="95000"/>
                  </a:schemeClr>
                </a:solidFill>
              </a:rPr>
              <a:t>confusion</a:t>
            </a:r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it-IT" sz="1600" dirty="0" err="1">
                <a:solidFill>
                  <a:schemeClr val="bg1">
                    <a:lumMod val="95000"/>
                  </a:schemeClr>
                </a:solidFill>
              </a:rPr>
              <a:t>matrix</a:t>
            </a:r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 mostra:</a:t>
            </a:r>
          </a:p>
          <a:p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- True </a:t>
            </a:r>
            <a:r>
              <a:rPr lang="it-IT" sz="1600" dirty="0" err="1">
                <a:solidFill>
                  <a:schemeClr val="bg1">
                    <a:lumMod val="95000"/>
                  </a:schemeClr>
                </a:solidFill>
              </a:rPr>
              <a:t>Positives</a:t>
            </a:r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 (TP): predetti 1, erano 1</a:t>
            </a:r>
          </a:p>
          <a:p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- True </a:t>
            </a:r>
            <a:r>
              <a:rPr lang="it-IT" sz="1600" dirty="0" err="1">
                <a:solidFill>
                  <a:schemeClr val="bg1">
                    <a:lumMod val="95000"/>
                  </a:schemeClr>
                </a:solidFill>
              </a:rPr>
              <a:t>Negatives</a:t>
            </a:r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 (TN): predetti 0, erano 0</a:t>
            </a:r>
          </a:p>
          <a:p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- False </a:t>
            </a:r>
            <a:r>
              <a:rPr lang="it-IT" sz="1600" dirty="0" err="1">
                <a:solidFill>
                  <a:schemeClr val="bg1">
                    <a:lumMod val="95000"/>
                  </a:schemeClr>
                </a:solidFill>
              </a:rPr>
              <a:t>Positives</a:t>
            </a:r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 (FP): predetti 1, erano 0</a:t>
            </a:r>
          </a:p>
          <a:p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- False </a:t>
            </a:r>
            <a:r>
              <a:rPr lang="it-IT" sz="1600" dirty="0" err="1">
                <a:solidFill>
                  <a:schemeClr val="bg1">
                    <a:lumMod val="95000"/>
                  </a:schemeClr>
                </a:solidFill>
              </a:rPr>
              <a:t>Negatives</a:t>
            </a:r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 (FN): predetti 0, erano 1</a:t>
            </a:r>
          </a:p>
          <a:p>
            <a:endParaRPr lang="it-IT" sz="16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La </a:t>
            </a:r>
            <a:r>
              <a:rPr lang="it-IT" sz="1600" dirty="0" err="1">
                <a:solidFill>
                  <a:schemeClr val="bg1">
                    <a:lumMod val="95000"/>
                  </a:schemeClr>
                </a:solidFill>
              </a:rPr>
              <a:t>heatmap</a:t>
            </a:r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 rende visiva la qualità del modello:</a:t>
            </a:r>
          </a:p>
          <a:p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- Numeri alti sulla diagonale → buone previsioni</a:t>
            </a:r>
          </a:p>
          <a:p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- Numeri fuori diagonale → errori</a:t>
            </a:r>
          </a:p>
        </p:txBody>
      </p:sp>
      <p:pic>
        <p:nvPicPr>
          <p:cNvPr id="8" name="Immagine 7" descr="Immagine che contiene testo, schermata, diagramma, Rettangolo&#10;&#10;Il contenuto generato dall'IA potrebbe non essere corretto.">
            <a:extLst>
              <a:ext uri="{FF2B5EF4-FFF2-40B4-BE49-F238E27FC236}">
                <a16:creationId xmlns:a16="http://schemas.microsoft.com/office/drawing/2014/main" id="{91EFB7DB-2C69-B35A-9EA4-89E28E013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191" y="3526351"/>
            <a:ext cx="1696097" cy="142691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574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</a:defRPr>
            </a:pPr>
            <a:r>
              <a:rPr sz="3200" dirty="0"/>
              <a:t>Feature Importance &amp; Feature Selection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8412480" cy="402336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80582"/>
            <a:ext cx="8046720" cy="3929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dirty="0"/>
              <a:t># Quando addestri un modello Random </a:t>
            </a:r>
            <a:r>
              <a:rPr lang="it-IT" dirty="0" err="1"/>
              <a:t>Forest</a:t>
            </a:r>
            <a:r>
              <a:rPr lang="it-IT" dirty="0"/>
              <a:t>, puoi chiedergli: “Quali feature ha usato di più per prendere decisioni?”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importances = </a:t>
            </a:r>
            <a:r>
              <a:rPr dirty="0" err="1"/>
              <a:t>model.feature_importances</a:t>
            </a:r>
            <a:r>
              <a:rPr dirty="0"/>
              <a:t>_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lang="it-IT" sz="8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dirty="0"/>
              <a:t># Questa riga restituisce un array con l’importanza di ogni feature (valori tra 0 e 1).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for feat, imp in zip(</a:t>
            </a:r>
            <a:r>
              <a:rPr dirty="0" err="1"/>
              <a:t>feature_names</a:t>
            </a:r>
            <a:r>
              <a:rPr dirty="0"/>
              <a:t>, importances):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    print(f'{feat}: {imp:.4f}')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sz="8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# </a:t>
            </a:r>
            <a:r>
              <a:rPr dirty="0" err="1"/>
              <a:t>Visualizza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 err="1"/>
              <a:t>plt.barh</a:t>
            </a:r>
            <a:r>
              <a:rPr dirty="0"/>
              <a:t>(</a:t>
            </a:r>
            <a:r>
              <a:rPr dirty="0" err="1"/>
              <a:t>feature_names</a:t>
            </a:r>
            <a:r>
              <a:rPr dirty="0"/>
              <a:t>, importances)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 err="1"/>
              <a:t>plt.xlabel</a:t>
            </a:r>
            <a:r>
              <a:rPr dirty="0"/>
              <a:t>('</a:t>
            </a:r>
            <a:r>
              <a:rPr dirty="0" err="1"/>
              <a:t>Importanza</a:t>
            </a:r>
            <a:r>
              <a:rPr dirty="0"/>
              <a:t>')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 err="1"/>
              <a:t>plt.show</a:t>
            </a:r>
            <a:r>
              <a:rPr dirty="0"/>
              <a:t>()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sz="8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# </a:t>
            </a:r>
            <a:r>
              <a:rPr lang="it-IT" dirty="0"/>
              <a:t>Se vuoi selezionare solo le K feature più rilevanti, puoi usare: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from </a:t>
            </a:r>
            <a:r>
              <a:rPr dirty="0" err="1"/>
              <a:t>sklearn.feature_selection</a:t>
            </a:r>
            <a:r>
              <a:rPr dirty="0"/>
              <a:t> import </a:t>
            </a:r>
            <a:r>
              <a:rPr dirty="0" err="1"/>
              <a:t>SelectKBest</a:t>
            </a:r>
            <a:r>
              <a:rPr dirty="0"/>
              <a:t>, </a:t>
            </a:r>
            <a:r>
              <a:rPr dirty="0" err="1"/>
              <a:t>f_classif</a:t>
            </a:r>
            <a:endParaRPr lang="it-IT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lang="it-IT" sz="80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dirty="0"/>
              <a:t># Questo crea un selettore che valuta ogni feature con un test statistico (</a:t>
            </a:r>
            <a:r>
              <a:rPr lang="it-IT" dirty="0" err="1"/>
              <a:t>f_classif</a:t>
            </a:r>
            <a:r>
              <a:rPr lang="it-IT" dirty="0"/>
              <a:t> = ANOVA F-test) e tiene solo le migliori. Esempio: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dirty="0"/>
              <a:t>selector = </a:t>
            </a:r>
            <a:r>
              <a:rPr lang="it-IT" dirty="0" err="1"/>
              <a:t>SelectKBest</a:t>
            </a:r>
            <a:r>
              <a:rPr lang="it-IT" dirty="0"/>
              <a:t>(</a:t>
            </a:r>
            <a:r>
              <a:rPr lang="it-IT" dirty="0" err="1"/>
              <a:t>score_func</a:t>
            </a:r>
            <a:r>
              <a:rPr lang="it-IT" dirty="0"/>
              <a:t>=</a:t>
            </a:r>
            <a:r>
              <a:rPr lang="it-IT" dirty="0" err="1"/>
              <a:t>f_classif</a:t>
            </a:r>
            <a:r>
              <a:rPr lang="it-IT" dirty="0"/>
              <a:t>, k=3)</a:t>
            </a:r>
            <a:r>
              <a:rPr lang="it-IT" dirty="0" err="1"/>
              <a:t>X_new</a:t>
            </a:r>
            <a:r>
              <a:rPr lang="it-IT" dirty="0"/>
              <a:t> = </a:t>
            </a:r>
            <a:r>
              <a:rPr lang="it-IT" dirty="0" err="1"/>
              <a:t>selector.fit_transform</a:t>
            </a:r>
            <a:r>
              <a:rPr lang="it-IT" dirty="0"/>
              <a:t>(X, y)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22F39D0-C718-F149-3FFE-0C94DD6847BC}"/>
              </a:ext>
            </a:extLst>
          </p:cNvPr>
          <p:cNvSpPr txBox="1"/>
          <p:nvPr/>
        </p:nvSpPr>
        <p:spPr>
          <a:xfrm>
            <a:off x="4388400" y="2551551"/>
            <a:ext cx="4206960" cy="830997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r>
              <a:rPr lang="it-IT" sz="1200" dirty="0">
                <a:solidFill>
                  <a:schemeClr val="bg1">
                    <a:lumMod val="95000"/>
                  </a:schemeClr>
                </a:solidFill>
              </a:rPr>
              <a:t>Interpretazione</a:t>
            </a:r>
          </a:p>
          <a:p>
            <a:r>
              <a:rPr lang="it-IT" sz="1200" dirty="0">
                <a:solidFill>
                  <a:schemeClr val="bg1">
                    <a:lumMod val="95000"/>
                  </a:schemeClr>
                </a:solidFill>
              </a:rPr>
              <a:t>- Feature con importanza alta → molto usata dal modello</a:t>
            </a:r>
          </a:p>
          <a:p>
            <a:r>
              <a:rPr lang="it-IT" sz="1200" dirty="0">
                <a:solidFill>
                  <a:schemeClr val="bg1">
                    <a:lumMod val="95000"/>
                  </a:schemeClr>
                </a:solidFill>
              </a:rPr>
              <a:t>- Feature con importanza bassa → quasi ignorata</a:t>
            </a:r>
          </a:p>
          <a:p>
            <a:r>
              <a:rPr lang="it-IT" sz="1200" dirty="0">
                <a:solidFill>
                  <a:schemeClr val="bg1">
                    <a:lumMod val="95000"/>
                  </a:schemeClr>
                </a:solidFill>
              </a:rPr>
              <a:t>- Utile per capire quali variabili influenzano davvero la predizione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574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</a:defRPr>
            </a:pPr>
            <a:r>
              <a:rPr sz="3200" dirty="0"/>
              <a:t>ESERCIZIO 3: Feature Engineering (Titanic)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8412480" cy="402336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046720" cy="4011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dirty="0"/>
              <a:t>In questo esercizio imparerai a:</a:t>
            </a:r>
          </a:p>
          <a:p>
            <a:pPr marL="360363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tabLst>
                <a:tab pos="360363" algn="l"/>
              </a:tabLs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dirty="0"/>
              <a:t>creare nuove feature significative</a:t>
            </a:r>
          </a:p>
          <a:p>
            <a:pPr marL="360363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tabLst>
                <a:tab pos="360363" algn="l"/>
              </a:tabLs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dirty="0"/>
              <a:t>trasformare variabili grezze in informazioni più utili</a:t>
            </a:r>
          </a:p>
          <a:p>
            <a:pPr marL="360363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tabLst>
                <a:tab pos="360363" algn="l"/>
              </a:tabLs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dirty="0"/>
              <a:t>migliorare la qualità del dataset per la classificazione.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lang="it-IT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dirty="0"/>
              <a:t>Useremo il dataset Titanic e costruiremo: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lang="it-IT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# Feature 1: Age Groups</a:t>
            </a:r>
            <a:r>
              <a:rPr lang="it-IT" dirty="0"/>
              <a:t> → per creare fasce d’età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 err="1"/>
              <a:t>df</a:t>
            </a:r>
            <a:r>
              <a:rPr dirty="0"/>
              <a:t>['</a:t>
            </a:r>
            <a:r>
              <a:rPr dirty="0" err="1"/>
              <a:t>Age_group</a:t>
            </a:r>
            <a:r>
              <a:rPr dirty="0"/>
              <a:t>'] = </a:t>
            </a:r>
            <a:r>
              <a:rPr dirty="0" err="1"/>
              <a:t>pd.cut</a:t>
            </a:r>
            <a:r>
              <a:rPr dirty="0"/>
              <a:t>(</a:t>
            </a:r>
            <a:r>
              <a:rPr dirty="0" err="1"/>
              <a:t>df</a:t>
            </a:r>
            <a:r>
              <a:rPr dirty="0"/>
              <a:t>['Age'], 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    bins=[0, 12, 18, 35, 60, 100])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# Feature 2: Family Size</a:t>
            </a:r>
            <a:r>
              <a:rPr lang="it-IT" dirty="0"/>
              <a:t> → per calcolare la dimensione familiare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 err="1"/>
              <a:t>df</a:t>
            </a:r>
            <a:r>
              <a:rPr dirty="0"/>
              <a:t>['</a:t>
            </a:r>
            <a:r>
              <a:rPr dirty="0" err="1"/>
              <a:t>Family_size</a:t>
            </a:r>
            <a:r>
              <a:rPr dirty="0"/>
              <a:t>'] = </a:t>
            </a:r>
            <a:r>
              <a:rPr dirty="0" err="1"/>
              <a:t>df</a:t>
            </a:r>
            <a:r>
              <a:rPr dirty="0"/>
              <a:t>['</a:t>
            </a:r>
            <a:r>
              <a:rPr b="1" dirty="0" err="1">
                <a:solidFill>
                  <a:srgbClr val="FFC000"/>
                </a:solidFill>
              </a:rPr>
              <a:t>SibSp</a:t>
            </a:r>
            <a:r>
              <a:rPr dirty="0"/>
              <a:t>'] + </a:t>
            </a:r>
            <a:r>
              <a:rPr dirty="0" err="1"/>
              <a:t>df</a:t>
            </a:r>
            <a:r>
              <a:rPr dirty="0"/>
              <a:t>[</a:t>
            </a:r>
            <a:r>
              <a:rPr sz="1100" b="1" dirty="0">
                <a:solidFill>
                  <a:srgbClr val="FFC000"/>
                </a:solidFill>
                <a:latin typeface="Courier New"/>
              </a:rPr>
              <a:t>'Parch</a:t>
            </a:r>
            <a:r>
              <a:rPr dirty="0"/>
              <a:t>'] + 1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# Feature 3: </a:t>
            </a:r>
            <a:r>
              <a:rPr dirty="0" err="1"/>
              <a:t>Is_alone</a:t>
            </a:r>
            <a:r>
              <a:rPr lang="it-IT" dirty="0"/>
              <a:t> → indicatore binario di viaggio da soli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 err="1"/>
              <a:t>df</a:t>
            </a:r>
            <a:r>
              <a:rPr dirty="0"/>
              <a:t>['</a:t>
            </a:r>
            <a:r>
              <a:rPr dirty="0" err="1"/>
              <a:t>Is_alone</a:t>
            </a:r>
            <a:r>
              <a:rPr dirty="0"/>
              <a:t>'] = (</a:t>
            </a:r>
            <a:r>
              <a:rPr dirty="0" err="1"/>
              <a:t>df</a:t>
            </a:r>
            <a:r>
              <a:rPr dirty="0"/>
              <a:t>['</a:t>
            </a:r>
            <a:r>
              <a:rPr dirty="0" err="1"/>
              <a:t>Family_size</a:t>
            </a:r>
            <a:r>
              <a:rPr dirty="0"/>
              <a:t>'] == 1).</a:t>
            </a:r>
            <a:r>
              <a:rPr dirty="0" err="1"/>
              <a:t>astype</a:t>
            </a:r>
            <a:r>
              <a:rPr dirty="0"/>
              <a:t>(int)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# </a:t>
            </a:r>
            <a:r>
              <a:rPr dirty="0" err="1"/>
              <a:t>Risultato</a:t>
            </a:r>
            <a:r>
              <a:rPr dirty="0"/>
              <a:t>: </a:t>
            </a:r>
            <a:r>
              <a:rPr dirty="0" err="1"/>
              <a:t>Più</a:t>
            </a:r>
            <a:r>
              <a:rPr dirty="0"/>
              <a:t> features </a:t>
            </a:r>
            <a:r>
              <a:rPr dirty="0" err="1"/>
              <a:t>rilevanti</a:t>
            </a:r>
            <a:r>
              <a:rPr dirty="0"/>
              <a:t> → </a:t>
            </a:r>
            <a:r>
              <a:rPr dirty="0" err="1"/>
              <a:t>Modello</a:t>
            </a:r>
            <a:r>
              <a:rPr dirty="0"/>
              <a:t> </a:t>
            </a:r>
            <a:r>
              <a:rPr dirty="0" err="1"/>
              <a:t>migliore</a:t>
            </a:r>
            <a:r>
              <a:rPr dirty="0"/>
              <a:t>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9505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</a:defRPr>
            </a:pPr>
            <a:r>
              <a:rPr lang="it-IT" sz="3200" dirty="0"/>
              <a:t>Tecniche di validazione del Modello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2044800"/>
            <a:ext cx="8412480" cy="2856959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145265"/>
            <a:ext cx="8046720" cy="2687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from </a:t>
            </a:r>
            <a:r>
              <a:rPr dirty="0" err="1"/>
              <a:t>sklearn.model_selection</a:t>
            </a:r>
            <a:r>
              <a:rPr dirty="0"/>
              <a:t> import (</a:t>
            </a:r>
            <a:r>
              <a:rPr dirty="0" err="1"/>
              <a:t>cross_val_score</a:t>
            </a:r>
            <a:r>
              <a:rPr dirty="0"/>
              <a:t>, StratifiedKFold, </a:t>
            </a:r>
            <a:r>
              <a:rPr dirty="0" err="1"/>
              <a:t>cross_validate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# K-Fold semplice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scores = </a:t>
            </a:r>
            <a:r>
              <a:rPr dirty="0" err="1"/>
              <a:t>cross_val_score</a:t>
            </a:r>
            <a:r>
              <a:rPr dirty="0"/>
              <a:t>(model, X, y, cv=</a:t>
            </a:r>
            <a:r>
              <a:rPr b="1" dirty="0">
                <a:solidFill>
                  <a:srgbClr val="FFC000"/>
                </a:solidFill>
              </a:rPr>
              <a:t>5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# Stratified</a:t>
            </a:r>
            <a:r>
              <a:rPr lang="it-IT" dirty="0" err="1"/>
              <a:t>Fold</a:t>
            </a:r>
            <a:r>
              <a:rPr dirty="0"/>
              <a:t> (</a:t>
            </a:r>
            <a:r>
              <a:rPr dirty="0" err="1"/>
              <a:t>mantiene</a:t>
            </a:r>
            <a:r>
              <a:rPr dirty="0"/>
              <a:t> </a:t>
            </a:r>
            <a:r>
              <a:rPr dirty="0" err="1"/>
              <a:t>proporzioni</a:t>
            </a:r>
            <a:r>
              <a:rPr dirty="0"/>
              <a:t> </a:t>
            </a:r>
            <a:r>
              <a:rPr dirty="0" err="1"/>
              <a:t>classi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 err="1"/>
              <a:t>skf</a:t>
            </a:r>
            <a:r>
              <a:rPr dirty="0"/>
              <a:t> = StratifiedKFold(</a:t>
            </a:r>
            <a:r>
              <a:rPr dirty="0" err="1"/>
              <a:t>n_splits</a:t>
            </a:r>
            <a:r>
              <a:rPr dirty="0"/>
              <a:t>=</a:t>
            </a:r>
            <a:r>
              <a:rPr sz="1100" b="1" dirty="0">
                <a:solidFill>
                  <a:srgbClr val="FFC000"/>
                </a:solidFill>
                <a:latin typeface="Courier New"/>
              </a:rPr>
              <a:t>5</a:t>
            </a:r>
            <a:r>
              <a:rPr dirty="0"/>
              <a:t>, shuffle=</a:t>
            </a:r>
            <a:r>
              <a:rPr b="1" dirty="0">
                <a:solidFill>
                  <a:srgbClr val="00B0F0"/>
                </a:solidFill>
              </a:rPr>
              <a:t>True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scores = </a:t>
            </a:r>
            <a:r>
              <a:rPr dirty="0" err="1"/>
              <a:t>cross_val_score</a:t>
            </a:r>
            <a:r>
              <a:rPr dirty="0"/>
              <a:t>(model, X, y, cv=</a:t>
            </a:r>
            <a:r>
              <a:rPr dirty="0" err="1"/>
              <a:t>skf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# </a:t>
            </a:r>
            <a:r>
              <a:rPr lang="it-IT" dirty="0" err="1"/>
              <a:t>cross_validate</a:t>
            </a:r>
            <a:r>
              <a:rPr lang="it-IT" dirty="0"/>
              <a:t> per valutare più metriche contemporaneamente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scoring = {</a:t>
            </a:r>
            <a:r>
              <a:rPr dirty="0">
                <a:solidFill>
                  <a:srgbClr val="00B050"/>
                </a:solidFill>
              </a:rPr>
              <a:t>'accuracy</a:t>
            </a:r>
            <a:r>
              <a:rPr dirty="0"/>
              <a:t>': </a:t>
            </a:r>
            <a:r>
              <a:rPr dirty="0">
                <a:solidFill>
                  <a:srgbClr val="00B050"/>
                </a:solidFill>
              </a:rPr>
              <a:t>'accuracy</a:t>
            </a:r>
            <a:r>
              <a:rPr dirty="0"/>
              <a:t>', </a:t>
            </a:r>
            <a:r>
              <a:rPr dirty="0">
                <a:solidFill>
                  <a:srgbClr val="00B050"/>
                </a:solidFill>
              </a:rPr>
              <a:t>'</a:t>
            </a:r>
            <a:r>
              <a:rPr dirty="0" err="1">
                <a:solidFill>
                  <a:srgbClr val="00B050"/>
                </a:solidFill>
              </a:rPr>
              <a:t>auc</a:t>
            </a:r>
            <a:r>
              <a:rPr dirty="0"/>
              <a:t>': </a:t>
            </a:r>
            <a:r>
              <a:rPr dirty="0">
                <a:solidFill>
                  <a:srgbClr val="00B050"/>
                </a:solidFill>
              </a:rPr>
              <a:t>'</a:t>
            </a:r>
            <a:r>
              <a:rPr dirty="0" err="1">
                <a:solidFill>
                  <a:srgbClr val="00B050"/>
                </a:solidFill>
              </a:rPr>
              <a:t>roc_auc</a:t>
            </a:r>
            <a:r>
              <a:rPr dirty="0"/>
              <a:t>'}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results = </a:t>
            </a:r>
            <a:r>
              <a:rPr dirty="0" err="1"/>
              <a:t>cross_validate</a:t>
            </a:r>
            <a:r>
              <a:rPr dirty="0"/>
              <a:t>(model, X, y, cv=</a:t>
            </a:r>
            <a:r>
              <a:rPr sz="1100" b="1" dirty="0">
                <a:solidFill>
                  <a:srgbClr val="FFC000"/>
                </a:solidFill>
                <a:latin typeface="Courier New"/>
              </a:rPr>
              <a:t>5</a:t>
            </a:r>
            <a:r>
              <a:rPr dirty="0"/>
              <a:t>, scoring=scoring)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02C9A27-0CFF-2FFD-5C62-4A9EB71E0DF6}"/>
              </a:ext>
            </a:extLst>
          </p:cNvPr>
          <p:cNvSpPr txBox="1"/>
          <p:nvPr/>
        </p:nvSpPr>
        <p:spPr>
          <a:xfrm>
            <a:off x="457200" y="774280"/>
            <a:ext cx="83210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La validazione incrociata è una tecnica per valutare la qualità di un modello su dati non visti, evitando che la valutazione dipenda da un singolo split </a:t>
            </a:r>
            <a:r>
              <a:rPr lang="it-IT" sz="1600" dirty="0" err="1">
                <a:solidFill>
                  <a:schemeClr val="bg1">
                    <a:lumMod val="95000"/>
                  </a:schemeClr>
                </a:solidFill>
              </a:rPr>
              <a:t>train</a:t>
            </a:r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/test.</a:t>
            </a:r>
          </a:p>
          <a:p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Queste tre tecniche di validazione con </a:t>
            </a:r>
            <a:r>
              <a:rPr lang="it-IT" sz="1600" dirty="0" err="1">
                <a:solidFill>
                  <a:schemeClr val="bg1">
                    <a:lumMod val="95000"/>
                  </a:schemeClr>
                </a:solidFill>
              </a:rPr>
              <a:t>scikit-learn</a:t>
            </a:r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 servono a stimare la performance del modello in modo più robusto e affidabile.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CCC5CC-9E7E-29D9-3036-350B3BDD7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6CCB37-DCB5-5AF3-FDC9-771EBFA8FC77}"/>
              </a:ext>
            </a:extLst>
          </p:cNvPr>
          <p:cNvSpPr txBox="1"/>
          <p:nvPr/>
        </p:nvSpPr>
        <p:spPr>
          <a:xfrm>
            <a:off x="457200" y="193276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</a:defRPr>
            </a:pPr>
            <a:r>
              <a:rPr sz="3200" dirty="0"/>
              <a:t>Cross-</a:t>
            </a:r>
            <a:r>
              <a:rPr sz="3200" dirty="0" err="1"/>
              <a:t>Validat</a:t>
            </a:r>
            <a:r>
              <a:rPr lang="it-IT" sz="3200" dirty="0"/>
              <a:t>e,</a:t>
            </a:r>
            <a:r>
              <a:rPr sz="3200" dirty="0"/>
              <a:t> </a:t>
            </a:r>
            <a:r>
              <a:rPr lang="it-IT" sz="3200" dirty="0"/>
              <a:t>K</a:t>
            </a:r>
            <a:r>
              <a:rPr sz="3200" dirty="0"/>
              <a:t>-</a:t>
            </a:r>
            <a:r>
              <a:rPr lang="it-IT" sz="3200" dirty="0"/>
              <a:t>F</a:t>
            </a:r>
            <a:r>
              <a:rPr sz="3200" dirty="0"/>
              <a:t>old e </a:t>
            </a:r>
            <a:r>
              <a:rPr lang="it-IT" sz="3200" dirty="0"/>
              <a:t>S</a:t>
            </a:r>
            <a:r>
              <a:rPr sz="3200" dirty="0" err="1"/>
              <a:t>tratified</a:t>
            </a:r>
            <a:r>
              <a:rPr lang="it-IT" sz="3200" dirty="0" err="1"/>
              <a:t>Fold</a:t>
            </a:r>
            <a:endParaRPr sz="32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3F0B5B4-8FC6-E290-11A3-13B48ABABD2A}"/>
              </a:ext>
            </a:extLst>
          </p:cNvPr>
          <p:cNvSpPr txBox="1"/>
          <p:nvPr/>
        </p:nvSpPr>
        <p:spPr>
          <a:xfrm>
            <a:off x="457200" y="791731"/>
            <a:ext cx="3888000" cy="156966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it-IT" sz="1600" dirty="0">
                <a:solidFill>
                  <a:srgbClr val="00B0F0"/>
                </a:solidFill>
              </a:rPr>
              <a:t>K-</a:t>
            </a:r>
            <a:r>
              <a:rPr lang="it-IT" sz="1600" dirty="0" err="1">
                <a:solidFill>
                  <a:srgbClr val="00B0F0"/>
                </a:solidFill>
              </a:rPr>
              <a:t>Fold</a:t>
            </a:r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:</a:t>
            </a:r>
          </a:p>
          <a:p>
            <a:pPr marL="266700" indent="-179388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Divide il dataset in 5 blocchi (</a:t>
            </a:r>
            <a:r>
              <a:rPr lang="it-IT" sz="1600" dirty="0" err="1">
                <a:solidFill>
                  <a:schemeClr val="bg1">
                    <a:lumMod val="95000"/>
                  </a:schemeClr>
                </a:solidFill>
              </a:rPr>
              <a:t>fold</a:t>
            </a:r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)</a:t>
            </a:r>
          </a:p>
          <a:p>
            <a:pPr marL="266700" indent="-179388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Per ogni </a:t>
            </a:r>
            <a:r>
              <a:rPr lang="it-IT" sz="1600" dirty="0" err="1">
                <a:solidFill>
                  <a:schemeClr val="bg1">
                    <a:lumMod val="95000"/>
                  </a:schemeClr>
                </a:solidFill>
              </a:rPr>
              <a:t>fold</a:t>
            </a:r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: allena su 4, testa su 1</a:t>
            </a:r>
          </a:p>
          <a:p>
            <a:pPr marL="266700" indent="-179388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Restituisce 5 punteggi (uno per ogni </a:t>
            </a:r>
            <a:r>
              <a:rPr lang="it-IT" sz="1600" dirty="0" err="1">
                <a:solidFill>
                  <a:schemeClr val="bg1">
                    <a:lumMod val="95000"/>
                  </a:schemeClr>
                </a:solidFill>
              </a:rPr>
              <a:t>fold</a:t>
            </a:r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)</a:t>
            </a:r>
          </a:p>
          <a:p>
            <a:pPr marL="266700" indent="-179388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Utile per stimare la variabilità del modello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27186E2-0B44-7015-5F40-CAEF851DF3FE}"/>
              </a:ext>
            </a:extLst>
          </p:cNvPr>
          <p:cNvSpPr txBox="1"/>
          <p:nvPr/>
        </p:nvSpPr>
        <p:spPr>
          <a:xfrm>
            <a:off x="4798802" y="2857661"/>
            <a:ext cx="3888000" cy="181588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Quando usare ciascuno?</a:t>
            </a:r>
          </a:p>
          <a:p>
            <a:pPr marL="285750" indent="-200025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Usa </a:t>
            </a:r>
            <a:r>
              <a:rPr lang="it-IT" sz="1600" dirty="0" err="1">
                <a:solidFill>
                  <a:schemeClr val="bg1">
                    <a:lumMod val="95000"/>
                  </a:schemeClr>
                </a:solidFill>
              </a:rPr>
              <a:t>cross_val_score</a:t>
            </a:r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 per valutazioni rapide su una metrica</a:t>
            </a:r>
          </a:p>
          <a:p>
            <a:pPr marL="285750" indent="-200025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Usa </a:t>
            </a:r>
            <a:r>
              <a:rPr lang="it-IT" sz="1600" dirty="0" err="1">
                <a:solidFill>
                  <a:schemeClr val="bg1">
                    <a:lumMod val="95000"/>
                  </a:schemeClr>
                </a:solidFill>
              </a:rPr>
              <a:t>StratifiedKFold</a:t>
            </a:r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 se hai classi sbilanciate</a:t>
            </a:r>
          </a:p>
          <a:p>
            <a:pPr marL="285750" indent="-200025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Usa </a:t>
            </a:r>
            <a:r>
              <a:rPr lang="it-IT" sz="1600" dirty="0" err="1">
                <a:solidFill>
                  <a:schemeClr val="bg1">
                    <a:lumMod val="95000"/>
                  </a:schemeClr>
                </a:solidFill>
              </a:rPr>
              <a:t>cross_validate</a:t>
            </a:r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 se vuoi confrontare </a:t>
            </a:r>
            <a:r>
              <a:rPr lang="it-IT" sz="1600" dirty="0" err="1">
                <a:solidFill>
                  <a:schemeClr val="bg1">
                    <a:lumMod val="95000"/>
                  </a:schemeClr>
                </a:solidFill>
              </a:rPr>
              <a:t>accuracy</a:t>
            </a:r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, AUC, F1, ecc. insieme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FB95751-BDF8-2483-46BC-060A5555524F}"/>
              </a:ext>
            </a:extLst>
          </p:cNvPr>
          <p:cNvSpPr txBox="1"/>
          <p:nvPr/>
        </p:nvSpPr>
        <p:spPr>
          <a:xfrm>
            <a:off x="4798802" y="791731"/>
            <a:ext cx="3888000" cy="181588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StratifiedFold</a:t>
            </a: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</a:p>
          <a:p>
            <a:pPr marL="285750" marR="0" lvl="0" indent="-2000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Come K-</a:t>
            </a:r>
            <a:r>
              <a:rPr kumimoji="0" lang="it-IT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Fold</a:t>
            </a: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ma mantiene le proporzioni delle classi in ogni </a:t>
            </a:r>
            <a:r>
              <a:rPr kumimoji="0" lang="it-IT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fold</a:t>
            </a:r>
            <a:endParaRPr kumimoji="0" lang="it-IT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000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Fondamentale per classificazione binaria o sbilanciata</a:t>
            </a:r>
          </a:p>
          <a:p>
            <a:pPr marL="285750" marR="0" lvl="0" indent="-2000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Evita che un </a:t>
            </a:r>
            <a:r>
              <a:rPr kumimoji="0" lang="it-IT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fold</a:t>
            </a: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abbia solo esempi di una classe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9B7047D6-35F4-C235-FB58-B9CC482C3EF0}"/>
              </a:ext>
            </a:extLst>
          </p:cNvPr>
          <p:cNvSpPr txBox="1"/>
          <p:nvPr/>
        </p:nvSpPr>
        <p:spPr>
          <a:xfrm>
            <a:off x="457200" y="2623148"/>
            <a:ext cx="3888000" cy="230832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cross_validate</a:t>
            </a: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</a:p>
          <a:p>
            <a:pPr marL="285750" marR="0" lvl="0" indent="-2000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Permette di calcolare più metriche contemporaneamente</a:t>
            </a:r>
          </a:p>
          <a:p>
            <a:pPr marL="285750" marR="0" lvl="0" indent="-2000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Restituisce un dizionario con:</a:t>
            </a:r>
          </a:p>
          <a:p>
            <a:pPr marL="552450" marR="0" lvl="0" indent="-19208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punteggi di accuratezza</a:t>
            </a:r>
          </a:p>
          <a:p>
            <a:pPr marL="552450" marR="0" lvl="0" indent="-19208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punteggi AUC (area sotto la curva ROC)</a:t>
            </a:r>
          </a:p>
          <a:p>
            <a:pPr marL="285750" marR="0" lvl="0" indent="-2000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Utile per confrontare modelli su più criteri</a:t>
            </a:r>
          </a:p>
        </p:txBody>
      </p:sp>
    </p:spTree>
    <p:extLst>
      <p:ext uri="{BB962C8B-B14F-4D97-AF65-F5344CB8AC3E}">
        <p14:creationId xmlns:p14="http://schemas.microsoft.com/office/powerpoint/2010/main" val="22640345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574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</a:defRPr>
            </a:pPr>
            <a:r>
              <a:rPr sz="3200" dirty="0" err="1"/>
              <a:t>GridSearchCV</a:t>
            </a:r>
            <a:r>
              <a:rPr sz="3200" dirty="0"/>
              <a:t>: Hyperparameter Tuning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4E30930-EA36-5118-E432-6AB34BFE6576}"/>
              </a:ext>
            </a:extLst>
          </p:cNvPr>
          <p:cNvSpPr txBox="1"/>
          <p:nvPr/>
        </p:nvSpPr>
        <p:spPr>
          <a:xfrm>
            <a:off x="457200" y="966439"/>
            <a:ext cx="8100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dirty="0" err="1">
                <a:solidFill>
                  <a:schemeClr val="bg1">
                    <a:lumMod val="95000"/>
                  </a:schemeClr>
                </a:solidFill>
              </a:rPr>
              <a:t>GridSearchCV</a:t>
            </a:r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 viene usato per ottimizzare i </a:t>
            </a:r>
            <a:r>
              <a:rPr lang="it-IT" dirty="0" err="1">
                <a:solidFill>
                  <a:schemeClr val="bg1">
                    <a:lumMod val="95000"/>
                  </a:schemeClr>
                </a:solidFill>
              </a:rPr>
              <a:t>iperparametri</a:t>
            </a:r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 di un modello, in questo caso un </a:t>
            </a:r>
            <a:r>
              <a:rPr lang="it-IT" dirty="0" err="1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RandomForestClassifier</a:t>
            </a:r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  <a:p>
            <a:pPr>
              <a:buNone/>
            </a:pPr>
            <a:endParaRPr lang="it-IT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buNone/>
            </a:pPr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Cos’è </a:t>
            </a:r>
            <a:r>
              <a:rPr lang="it-IT" dirty="0" err="1">
                <a:solidFill>
                  <a:schemeClr val="bg1">
                    <a:lumMod val="95000"/>
                  </a:schemeClr>
                </a:solidFill>
              </a:rPr>
              <a:t>GridSearchCV</a:t>
            </a:r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?</a:t>
            </a:r>
          </a:p>
          <a:p>
            <a:pPr>
              <a:buNone/>
            </a:pPr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È una tecnica di ricerca esaustiva:</a:t>
            </a:r>
          </a:p>
          <a:p>
            <a:pPr marL="285750" indent="-200025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prova tutte le combinazioni di </a:t>
            </a:r>
            <a:r>
              <a:rPr lang="it-IT" dirty="0" err="1">
                <a:solidFill>
                  <a:schemeClr val="bg1">
                    <a:lumMod val="95000"/>
                  </a:schemeClr>
                </a:solidFill>
              </a:rPr>
              <a:t>iperparametri</a:t>
            </a:r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 specificati</a:t>
            </a:r>
          </a:p>
          <a:p>
            <a:pPr marL="285750" indent="-200025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valuta ogni modello con cross-</a:t>
            </a:r>
            <a:r>
              <a:rPr lang="it-IT" dirty="0" err="1">
                <a:solidFill>
                  <a:schemeClr val="bg1">
                    <a:lumMod val="95000"/>
                  </a:schemeClr>
                </a:solidFill>
              </a:rPr>
              <a:t>validation</a:t>
            </a:r>
            <a:endParaRPr lang="it-IT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00025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restituisce la combinazione che dà le migliori prestazioni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Cosa ottieni:</a:t>
            </a:r>
          </a:p>
          <a:p>
            <a:pPr marL="285750" indent="-200025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Un modello ottimizzato</a:t>
            </a:r>
          </a:p>
          <a:p>
            <a:pPr marL="285750" indent="-200025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Una valutazione robusta</a:t>
            </a:r>
          </a:p>
          <a:p>
            <a:pPr marL="285750" indent="-200025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Un set di </a:t>
            </a:r>
            <a:r>
              <a:rPr lang="it-IT" dirty="0" err="1">
                <a:solidFill>
                  <a:schemeClr val="bg1">
                    <a:lumMod val="95000"/>
                  </a:schemeClr>
                </a:solidFill>
              </a:rPr>
              <a:t>iperparametri</a:t>
            </a:r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 da usare per il modello finale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D37E2E-5DA7-0EE9-FE79-FCA9067EA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7FFF5C-7A2A-9E00-2C9B-5BEA25670142}"/>
              </a:ext>
            </a:extLst>
          </p:cNvPr>
          <p:cNvSpPr txBox="1"/>
          <p:nvPr/>
        </p:nvSpPr>
        <p:spPr>
          <a:xfrm>
            <a:off x="457200" y="20574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</a:defRPr>
            </a:pPr>
            <a:r>
              <a:rPr lang="it-IT" sz="3200" dirty="0"/>
              <a:t>Applicazione della </a:t>
            </a:r>
            <a:r>
              <a:rPr sz="3200" dirty="0" err="1"/>
              <a:t>GridSearchCV</a:t>
            </a:r>
            <a:endParaRPr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C10DD9-16FF-DDEB-42A9-FBDE7601455D}"/>
              </a:ext>
            </a:extLst>
          </p:cNvPr>
          <p:cNvSpPr/>
          <p:nvPr/>
        </p:nvSpPr>
        <p:spPr>
          <a:xfrm>
            <a:off x="365760" y="914400"/>
            <a:ext cx="8412480" cy="402336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860A4E-E96B-69E3-7E3F-E1AC38A6C7D2}"/>
              </a:ext>
            </a:extLst>
          </p:cNvPr>
          <p:cNvSpPr txBox="1"/>
          <p:nvPr/>
        </p:nvSpPr>
        <p:spPr>
          <a:xfrm>
            <a:off x="548640" y="954618"/>
            <a:ext cx="8046720" cy="4042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050" dirty="0"/>
              <a:t>from </a:t>
            </a:r>
            <a:r>
              <a:rPr sz="1050" dirty="0" err="1"/>
              <a:t>sklearn.model_selection</a:t>
            </a:r>
            <a:r>
              <a:rPr sz="1050" dirty="0"/>
              <a:t> import </a:t>
            </a:r>
            <a:r>
              <a:rPr sz="1050" dirty="0" err="1"/>
              <a:t>GridSearchCV</a:t>
            </a:r>
            <a:endParaRPr sz="105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lang="it-IT" sz="105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sz="1050" dirty="0"/>
              <a:t># Dizionario dei parametri da testare. </a:t>
            </a:r>
            <a:r>
              <a:rPr lang="it-IT" sz="1050" dirty="0" err="1"/>
              <a:t>GridSearch</a:t>
            </a:r>
            <a:r>
              <a:rPr lang="it-IT" sz="1050" dirty="0"/>
              <a:t> proverà tutte le combinazioni di questi valori.</a:t>
            </a:r>
            <a:endParaRPr sz="105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050" dirty="0"/>
              <a:t>params = {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050" dirty="0"/>
              <a:t>    '</a:t>
            </a:r>
            <a:r>
              <a:rPr sz="1050" dirty="0" err="1"/>
              <a:t>max_depth</a:t>
            </a:r>
            <a:r>
              <a:rPr sz="1050" dirty="0"/>
              <a:t>': [5, 10, 15, None],</a:t>
            </a:r>
            <a:r>
              <a:rPr lang="it-IT" sz="1050" dirty="0"/>
              <a:t>		# profondità massima degli alberi</a:t>
            </a:r>
            <a:endParaRPr sz="105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050" dirty="0"/>
              <a:t>    '</a:t>
            </a:r>
            <a:r>
              <a:rPr sz="1050" dirty="0" err="1"/>
              <a:t>min_samples_split</a:t>
            </a:r>
            <a:r>
              <a:rPr sz="1050" dirty="0"/>
              <a:t>': [2, 5, 10],</a:t>
            </a:r>
            <a:r>
              <a:rPr lang="it-IT" sz="1050" dirty="0"/>
              <a:t>		# minimo numero di campioni per dividere un nodo</a:t>
            </a:r>
            <a:endParaRPr sz="105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050" dirty="0"/>
              <a:t>    '</a:t>
            </a:r>
            <a:r>
              <a:rPr sz="1050" dirty="0" err="1"/>
              <a:t>n_estimators</a:t>
            </a:r>
            <a:r>
              <a:rPr sz="1050" dirty="0"/>
              <a:t>': [50, 100, 200]</a:t>
            </a:r>
            <a:r>
              <a:rPr lang="it-IT" sz="1050" dirty="0"/>
              <a:t> }		# numero di alberi nella foresta</a:t>
            </a:r>
            <a:endParaRPr sz="105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lang="it-IT" sz="105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sz="1050" dirty="0"/>
              <a:t># Creazione dell’oggetto </a:t>
            </a:r>
            <a:r>
              <a:rPr lang="it-IT" sz="1050" dirty="0" err="1"/>
              <a:t>GridSearchCV</a:t>
            </a:r>
            <a:endParaRPr sz="1050" dirty="0"/>
          </a:p>
          <a:p>
            <a:pPr marL="5205413" indent="-5205413"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050" dirty="0"/>
              <a:t>grid = </a:t>
            </a:r>
            <a:r>
              <a:rPr sz="1050" dirty="0" err="1"/>
              <a:t>GridSearchCV</a:t>
            </a:r>
            <a:r>
              <a:rPr sz="1050" dirty="0"/>
              <a:t>(</a:t>
            </a:r>
            <a:r>
              <a:rPr sz="1050" dirty="0" err="1"/>
              <a:t>RandomForestClassifier</a:t>
            </a:r>
            <a:r>
              <a:rPr sz="1050" dirty="0"/>
              <a:t>(), params, cv=5)</a:t>
            </a:r>
            <a:r>
              <a:rPr lang="it-IT" sz="1050" dirty="0"/>
              <a:t>	# usa 5-fold cross-</a:t>
            </a:r>
            <a:r>
              <a:rPr lang="it-IT" sz="1050" dirty="0" err="1"/>
              <a:t>validation</a:t>
            </a:r>
            <a:r>
              <a:rPr lang="it-IT" sz="1050" dirty="0"/>
              <a:t> per # valutare ogni combinazione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lang="it-IT" sz="105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sz="1050" dirty="0"/>
              <a:t># Addestramento su dati di training</a:t>
            </a:r>
          </a:p>
          <a:p>
            <a:pPr marL="3405188" indent="-3405188"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050" dirty="0" err="1"/>
              <a:t>grid.fit</a:t>
            </a:r>
            <a:r>
              <a:rPr sz="1050" dirty="0"/>
              <a:t>(</a:t>
            </a:r>
            <a:r>
              <a:rPr sz="1050" dirty="0" err="1"/>
              <a:t>X_train</a:t>
            </a:r>
            <a:r>
              <a:rPr sz="1050" dirty="0"/>
              <a:t>, </a:t>
            </a:r>
            <a:r>
              <a:rPr sz="1050" dirty="0" err="1"/>
              <a:t>y_train</a:t>
            </a:r>
            <a:r>
              <a:rPr sz="1050" dirty="0"/>
              <a:t>)</a:t>
            </a:r>
            <a:r>
              <a:rPr lang="it-IT" sz="1050" dirty="0"/>
              <a:t>	# Prova tutte le combinazioni. Per ciascuna: allena + </a:t>
            </a:r>
          </a:p>
          <a:p>
            <a:pPr marL="3405188" indent="-3405188"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sz="1050" dirty="0"/>
              <a:t>	# valuta con cross-</a:t>
            </a:r>
            <a:r>
              <a:rPr lang="it-IT" sz="1050" dirty="0" err="1"/>
              <a:t>validation</a:t>
            </a:r>
            <a:r>
              <a:rPr lang="it-IT" sz="1050" dirty="0"/>
              <a:t>. Salva la migliore</a:t>
            </a:r>
            <a:endParaRPr sz="105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lang="it-IT" sz="105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sz="1050" dirty="0"/>
              <a:t># Risultati</a:t>
            </a:r>
            <a:endParaRPr sz="105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050" dirty="0"/>
              <a:t>print(</a:t>
            </a:r>
            <a:r>
              <a:rPr sz="1050" dirty="0" err="1"/>
              <a:t>f'Best</a:t>
            </a:r>
            <a:r>
              <a:rPr sz="1050" dirty="0"/>
              <a:t> params: {</a:t>
            </a:r>
            <a:r>
              <a:rPr sz="1050" dirty="0" err="1"/>
              <a:t>grid.best_params</a:t>
            </a:r>
            <a:r>
              <a:rPr sz="1050" dirty="0"/>
              <a:t>_}’)</a:t>
            </a:r>
            <a:r>
              <a:rPr lang="it-IT" sz="1050" dirty="0"/>
              <a:t>	# combinazione ottimale</a:t>
            </a:r>
            <a:endParaRPr sz="1050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sz="1050" dirty="0"/>
              <a:t>print(</a:t>
            </a:r>
            <a:r>
              <a:rPr sz="1050" dirty="0" err="1"/>
              <a:t>f'Best</a:t>
            </a:r>
            <a:r>
              <a:rPr sz="1050" dirty="0"/>
              <a:t> score: {grid.best_score_:.3f}’)</a:t>
            </a:r>
            <a:r>
              <a:rPr lang="it-IT" sz="1050" dirty="0"/>
              <a:t>	# </a:t>
            </a:r>
            <a:r>
              <a:rPr lang="it-IT" sz="1100" dirty="0"/>
              <a:t>punteggio medio ottenuto con quella combinazione</a:t>
            </a:r>
            <a:endParaRPr sz="1050" dirty="0"/>
          </a:p>
        </p:txBody>
      </p:sp>
    </p:spTree>
    <p:extLst>
      <p:ext uri="{BB962C8B-B14F-4D97-AF65-F5344CB8AC3E}">
        <p14:creationId xmlns:p14="http://schemas.microsoft.com/office/powerpoint/2010/main" val="12323871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574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</a:defRPr>
            </a:pPr>
            <a:r>
              <a:rPr sz="3200" dirty="0" err="1"/>
              <a:t>RandomizedSearchCV</a:t>
            </a:r>
            <a:r>
              <a:rPr sz="3200" dirty="0"/>
              <a:t>: Tuning Veloce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771200"/>
            <a:ext cx="8412480" cy="316656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76560" y="1859994"/>
            <a:ext cx="847296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from </a:t>
            </a:r>
            <a:r>
              <a:rPr dirty="0" err="1"/>
              <a:t>sklearn.model_selection</a:t>
            </a:r>
            <a:r>
              <a:rPr dirty="0"/>
              <a:t> import </a:t>
            </a:r>
            <a:r>
              <a:rPr dirty="0" err="1"/>
              <a:t>RandomizedSearchCV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params = {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    '</a:t>
            </a:r>
            <a:r>
              <a:rPr dirty="0" err="1"/>
              <a:t>max_depth</a:t>
            </a:r>
            <a:r>
              <a:rPr dirty="0"/>
              <a:t>': [5, 10, 15, 20, None],</a:t>
            </a:r>
            <a:r>
              <a:rPr lang="it-IT" dirty="0"/>
              <a:t>	# profondità massima degli alberi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    '</a:t>
            </a:r>
            <a:r>
              <a:rPr dirty="0" err="1"/>
              <a:t>min_samples_split</a:t>
            </a:r>
            <a:r>
              <a:rPr dirty="0"/>
              <a:t>': [2, 5, 10, 20],</a:t>
            </a:r>
            <a:r>
              <a:rPr lang="it-IT" dirty="0"/>
              <a:t>	# </a:t>
            </a:r>
            <a:r>
              <a:rPr lang="it-IT" sz="1100" dirty="0"/>
              <a:t>minimo numero di campioni per dividere un nodo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    '</a:t>
            </a:r>
            <a:r>
              <a:rPr dirty="0" err="1"/>
              <a:t>n_estimators</a:t>
            </a:r>
            <a:r>
              <a:rPr dirty="0"/>
              <a:t>': [50, 100, 200, 300]</a:t>
            </a:r>
            <a:r>
              <a:rPr lang="it-IT" dirty="0"/>
              <a:t>	# </a:t>
            </a:r>
            <a:r>
              <a:rPr lang="it-IT" sz="1100" dirty="0"/>
              <a:t>numero di alberi nella foresta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}</a:t>
            </a:r>
            <a:endParaRPr lang="it-IT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lang="it-IT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dirty="0"/>
              <a:t># In totale ci sarebbero 5 × 4 × 4 = 80 combinazioni. Ma con RandomizedSearchCV ne testiamo solo 20.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 err="1"/>
              <a:t>rand_search</a:t>
            </a:r>
            <a:r>
              <a:rPr dirty="0"/>
              <a:t> = </a:t>
            </a:r>
            <a:r>
              <a:rPr dirty="0" err="1"/>
              <a:t>RandomizedSearchCV</a:t>
            </a:r>
            <a:r>
              <a:rPr dirty="0"/>
              <a:t>(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    </a:t>
            </a:r>
            <a:r>
              <a:rPr dirty="0" err="1"/>
              <a:t>RandomForestClassifier</a:t>
            </a:r>
            <a:r>
              <a:rPr dirty="0"/>
              <a:t>(), params,</a:t>
            </a:r>
            <a:r>
              <a:rPr lang="it-IT" dirty="0"/>
              <a:t>	# prova solo 20 combinazioni casuali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/>
              <a:t>    </a:t>
            </a:r>
            <a:r>
              <a:rPr dirty="0" err="1"/>
              <a:t>n_iter</a:t>
            </a:r>
            <a:r>
              <a:rPr dirty="0"/>
              <a:t>=20, cv=5, </a:t>
            </a:r>
            <a:r>
              <a:rPr dirty="0" err="1"/>
              <a:t>random_state</a:t>
            </a:r>
            <a:r>
              <a:rPr dirty="0"/>
              <a:t>=42)</a:t>
            </a:r>
            <a:r>
              <a:rPr lang="it-IT" dirty="0"/>
              <a:t>	# </a:t>
            </a:r>
            <a:r>
              <a:rPr lang="it-IT" sz="1100" dirty="0"/>
              <a:t>usa 5-fold cross-</a:t>
            </a:r>
            <a:r>
              <a:rPr lang="it-IT" sz="1100" dirty="0" err="1"/>
              <a:t>validation</a:t>
            </a:r>
            <a:r>
              <a:rPr lang="it-IT" sz="1100" dirty="0"/>
              <a:t> per valutare ogni combinazione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dirty="0" err="1"/>
              <a:t>rand_search.fit</a:t>
            </a:r>
            <a:r>
              <a:rPr dirty="0"/>
              <a:t>(</a:t>
            </a:r>
            <a:r>
              <a:rPr dirty="0" err="1"/>
              <a:t>X_train</a:t>
            </a:r>
            <a:r>
              <a:rPr dirty="0"/>
              <a:t>, </a:t>
            </a:r>
            <a:r>
              <a:rPr dirty="0" err="1"/>
              <a:t>y_train</a:t>
            </a:r>
            <a:r>
              <a:rPr dirty="0"/>
              <a:t>)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F2A0261-E8B9-E343-6C10-1A3F4F2C4551}"/>
              </a:ext>
            </a:extLst>
          </p:cNvPr>
          <p:cNvSpPr txBox="1"/>
          <p:nvPr/>
        </p:nvSpPr>
        <p:spPr>
          <a:xfrm>
            <a:off x="457200" y="816074"/>
            <a:ext cx="8229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È una tecnica di ricerca casuale: invece di provare tutte le combinazioni come </a:t>
            </a:r>
            <a:r>
              <a:rPr lang="it-IT" sz="1600" dirty="0" err="1">
                <a:solidFill>
                  <a:schemeClr val="bg1">
                    <a:lumMod val="95000"/>
                  </a:schemeClr>
                </a:solidFill>
              </a:rPr>
              <a:t>GridSearchCV</a:t>
            </a:r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, ne prova solo un numero limitato, scelto a caso.</a:t>
            </a:r>
          </a:p>
          <a:p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Questo lo rende molto più veloce, soprattutto quando hai tanti </a:t>
            </a:r>
            <a:r>
              <a:rPr lang="it-IT" sz="1600" dirty="0" err="1">
                <a:solidFill>
                  <a:schemeClr val="bg1">
                    <a:lumMod val="95000"/>
                  </a:schemeClr>
                </a:solidFill>
              </a:rPr>
              <a:t>iperparametri</a:t>
            </a:r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574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</a:defRPr>
            </a:pPr>
            <a:r>
              <a:rPr sz="3200" dirty="0" err="1"/>
              <a:t>Salvataggio</a:t>
            </a:r>
            <a:r>
              <a:rPr sz="3200" dirty="0"/>
              <a:t> &amp; </a:t>
            </a:r>
            <a:r>
              <a:rPr sz="3200" dirty="0" err="1"/>
              <a:t>Caricamento</a:t>
            </a:r>
            <a:r>
              <a:rPr sz="3200" dirty="0"/>
              <a:t> </a:t>
            </a:r>
            <a:r>
              <a:rPr lang="it-IT" sz="3200" dirty="0"/>
              <a:t>del </a:t>
            </a:r>
            <a:r>
              <a:rPr sz="3200" dirty="0" err="1"/>
              <a:t>Modello</a:t>
            </a:r>
            <a:endParaRPr sz="3200" dirty="0"/>
          </a:p>
        </p:txBody>
      </p:sp>
      <p:sp>
        <p:nvSpPr>
          <p:cNvPr id="3" name="Rectangle 2"/>
          <p:cNvSpPr/>
          <p:nvPr/>
        </p:nvSpPr>
        <p:spPr>
          <a:xfrm>
            <a:off x="365760" y="1931994"/>
            <a:ext cx="8412480" cy="3041766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931994"/>
            <a:ext cx="804672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73263" indent="-1973263"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dirty="0"/>
              <a:t>import </a:t>
            </a:r>
            <a:r>
              <a:rPr lang="it-IT" dirty="0" err="1"/>
              <a:t>joblib</a:t>
            </a:r>
            <a:r>
              <a:rPr lang="it-IT" dirty="0"/>
              <a:t>  	# Meglio di </a:t>
            </a:r>
            <a:r>
              <a:rPr lang="it-IT" dirty="0" err="1"/>
              <a:t>pickle</a:t>
            </a:r>
            <a:r>
              <a:rPr lang="it-IT" dirty="0"/>
              <a:t> per </a:t>
            </a:r>
            <a:r>
              <a:rPr lang="it-IT" dirty="0" err="1"/>
              <a:t>sklearn</a:t>
            </a:r>
            <a:r>
              <a:rPr lang="it-IT" dirty="0"/>
              <a:t>. È ottimizzato per oggetti grandi come modelli e pipeline. 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lang="it-IT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dirty="0"/>
              <a:t># Salva il modello addestrato. Puoi scegliere qualsiasi nome e estensione (.</a:t>
            </a:r>
            <a:r>
              <a:rPr lang="it-IT" dirty="0" err="1"/>
              <a:t>pkl</a:t>
            </a:r>
            <a:r>
              <a:rPr lang="it-IT" dirty="0"/>
              <a:t>, .</a:t>
            </a:r>
            <a:r>
              <a:rPr lang="it-IT" dirty="0" err="1"/>
              <a:t>joblib</a:t>
            </a:r>
            <a:r>
              <a:rPr lang="it-IT" dirty="0"/>
              <a:t>,...)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dirty="0" err="1"/>
              <a:t>joblib.dump</a:t>
            </a:r>
            <a:r>
              <a:rPr lang="it-IT" dirty="0"/>
              <a:t>(model, '</a:t>
            </a:r>
            <a:r>
              <a:rPr lang="it-IT" dirty="0" err="1"/>
              <a:t>my_model.pkl</a:t>
            </a:r>
            <a:r>
              <a:rPr lang="it-IT" dirty="0"/>
              <a:t>')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lang="it-IT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dirty="0"/>
              <a:t># Carica il modello. Recupera il modello salvato.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dirty="0" err="1"/>
              <a:t>model_loaded</a:t>
            </a:r>
            <a:r>
              <a:rPr lang="it-IT" dirty="0"/>
              <a:t> = </a:t>
            </a:r>
            <a:r>
              <a:rPr lang="it-IT" dirty="0" err="1"/>
              <a:t>joblib.load</a:t>
            </a:r>
            <a:r>
              <a:rPr lang="it-IT" dirty="0"/>
              <a:t>('</a:t>
            </a:r>
            <a:r>
              <a:rPr lang="it-IT" dirty="0" err="1"/>
              <a:t>my_model.pkl</a:t>
            </a:r>
            <a:r>
              <a:rPr lang="it-IT" dirty="0"/>
              <a:t>')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lang="it-IT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dirty="0"/>
              <a:t># - Usa il modello caricato per fare predizioni su nuovi dati </a:t>
            </a:r>
            <a:r>
              <a:rPr lang="it-IT" dirty="0" err="1"/>
              <a:t>X_new</a:t>
            </a:r>
            <a:endParaRPr lang="it-IT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dirty="0" err="1"/>
              <a:t>y_new_pred</a:t>
            </a:r>
            <a:r>
              <a:rPr lang="it-IT" dirty="0"/>
              <a:t> = </a:t>
            </a:r>
            <a:r>
              <a:rPr lang="it-IT" dirty="0" err="1"/>
              <a:t>model_loaded.predict</a:t>
            </a:r>
            <a:r>
              <a:rPr lang="it-IT" dirty="0"/>
              <a:t>(</a:t>
            </a:r>
            <a:r>
              <a:rPr lang="it-IT" dirty="0" err="1"/>
              <a:t>X_new</a:t>
            </a:r>
            <a:r>
              <a:rPr lang="it-IT" dirty="0"/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endParaRPr lang="it-IT" dirty="0"/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dirty="0"/>
              <a:t># Salva anche la pipeline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CBD5E1"/>
                </a:solidFill>
                <a:latin typeface="Courier New"/>
              </a:defRPr>
            </a:pPr>
            <a:r>
              <a:rPr lang="it-IT" dirty="0" err="1"/>
              <a:t>joblib.dump</a:t>
            </a:r>
            <a:r>
              <a:rPr lang="it-IT" dirty="0"/>
              <a:t>(pipe, '</a:t>
            </a:r>
            <a:r>
              <a:rPr lang="it-IT" dirty="0" err="1"/>
              <a:t>my_pipeline.pkl</a:t>
            </a:r>
            <a:r>
              <a:rPr lang="it-IT" dirty="0"/>
              <a:t>')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8F67E11-024D-C38D-A3FB-58936B6AFC2F}"/>
              </a:ext>
            </a:extLst>
          </p:cNvPr>
          <p:cNvSpPr txBox="1"/>
          <p:nvPr/>
        </p:nvSpPr>
        <p:spPr>
          <a:xfrm>
            <a:off x="457200" y="790515"/>
            <a:ext cx="82296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Quando hai addestrato un modello che funziona bene, puoi:</a:t>
            </a:r>
          </a:p>
          <a:p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- riutilizzarlo senza doverlo riaddestrare</a:t>
            </a:r>
          </a:p>
          <a:p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- condividerlo con altri</a:t>
            </a:r>
          </a:p>
          <a:p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- metterlo in produzione (deployment in </a:t>
            </a:r>
            <a:r>
              <a:rPr lang="it-IT" sz="1600" dirty="0" err="1">
                <a:solidFill>
                  <a:schemeClr val="bg1">
                    <a:lumMod val="95000"/>
                  </a:schemeClr>
                </a:solidFill>
              </a:rPr>
              <a:t>un’app</a:t>
            </a:r>
            <a:r>
              <a:rPr lang="it-IT" sz="1600" dirty="0">
                <a:solidFill>
                  <a:schemeClr val="bg1">
                    <a:lumMod val="95000"/>
                  </a:schemeClr>
                </a:solidFill>
              </a:rPr>
              <a:t> web, API, o script 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</a:defRPr>
            </a:pPr>
            <a:r>
              <a:t>Scikit-learn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r>
              <a:t>🔗 Librerie che si integrano con Scikit-learn: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r>
              <a:t>• XGBoost, LightGBM, CatBoost → Gradient Boosting avanzato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r>
              <a:t>• Imbalanced-learn → Gestione classi sbilanciate (SMOTE)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r>
              <a:t>• Hyperopt → Bayesian Optimization per tuning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r>
              <a:t>• Optuna → Moderne alternative a GridSearch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r>
              <a:t>• Skorch → Deep Learning (PyTorch) con API sklearn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r>
              <a:t>• Imblearn → Oversampling/undersampling per dati sbilanciati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</a:defRPr>
            </a:pPr>
            <a:r>
              <a:t>Best Practices Scikit-learn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r>
              <a:t>✅ Usa Pipeline per evitare data leakage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r>
              <a:t>✅ SEMPRE fit_transform su train, transform su test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r>
              <a:t>✅ Usa stratify=y in train_test_split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r>
              <a:t>✅ Cross-validation su train set (NON su test!)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r>
              <a:t>✅ Hyperparameter tuning su train set con CV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r>
              <a:t>✅ Valuta SEMPRE su test set separato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r>
              <a:t>✅ Salva modelli con joblib, non pickle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r>
              <a:t>✅ Usa scaling per distance-based algorithms (KNN, SVM, KMeans)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r>
              <a:t>✅ Tree-based models (DT, RF) non necessitano scaling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</a:defRPr>
            </a:pPr>
            <a:r>
              <a:t>Workflow Completo: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r>
              <a:t>1. ✅ Load data (load_iris, load_wine, pandas.read_csv)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r>
              <a:t>2. ✅ EDA (shape, describe, missing values, correlations)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r>
              <a:t>3. ✅ Handle missing values (fillna, dropna)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r>
              <a:t>4. ✅ Encoding (LabelEncoder, OneHotEncoder per categoriche)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r>
              <a:t>5. ✅ Feature scaling (StandardScaler, MinMaxScaler)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r>
              <a:t>6. ✅ Train/Test Split (stratify=y per classificazione)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r>
              <a:t>7. ✅ Model Selection &amp; Pipeline (Pipeline + preprocessor)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r>
              <a:t>8. ✅ Hyperparameter Tuning (GridSearchCV, RandomizedSearchCV)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r>
              <a:t>9. ✅ Model Evaluation (accuracy, precision, recall, F1, AUC)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r>
              <a:t>10. ✅ Save Model (joblib.dump)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</a:defRPr>
            </a:pPr>
            <a:r>
              <a:t>Risorse Ufficiali &amp; Documentazione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3611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r>
              <a:rPr dirty="0"/>
              <a:t>📚 </a:t>
            </a:r>
            <a:r>
              <a:rPr dirty="0" err="1"/>
              <a:t>Documentazione</a:t>
            </a:r>
            <a:r>
              <a:rPr dirty="0"/>
              <a:t> Ufficiale: https://scikit-learn.org/stable/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r>
              <a:rPr dirty="0"/>
              <a:t>📖 User Guide </a:t>
            </a:r>
            <a:r>
              <a:rPr dirty="0" err="1"/>
              <a:t>completo</a:t>
            </a:r>
            <a:r>
              <a:rPr dirty="0"/>
              <a:t> con </a:t>
            </a:r>
            <a:r>
              <a:rPr dirty="0" err="1"/>
              <a:t>esempi</a:t>
            </a: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r>
              <a:rPr dirty="0"/>
              <a:t>🔗 Gal</a:t>
            </a:r>
            <a:r>
              <a:rPr lang="it-IT" dirty="0"/>
              <a:t>l</a:t>
            </a:r>
            <a:r>
              <a:rPr dirty="0" err="1"/>
              <a:t>eria</a:t>
            </a:r>
            <a:r>
              <a:rPr dirty="0"/>
              <a:t> di </a:t>
            </a:r>
            <a:r>
              <a:rPr dirty="0" err="1"/>
              <a:t>esempi</a:t>
            </a:r>
            <a:r>
              <a:rPr dirty="0"/>
              <a:t> (Gallery of examples)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r>
              <a:rPr dirty="0"/>
              <a:t>💡 API Reference per ogni modulo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CBD5E1"/>
                </a:solidFill>
              </a:defRPr>
            </a:pPr>
            <a:r>
              <a:rPr dirty="0"/>
              <a:t>📊 Dataset online per </a:t>
            </a:r>
            <a:r>
              <a:rPr dirty="0" err="1"/>
              <a:t>esercitazione</a:t>
            </a:r>
            <a:r>
              <a:rPr dirty="0"/>
              <a:t>:</a:t>
            </a:r>
          </a:p>
          <a:p>
            <a:pPr marL="539750" indent="-180975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>
                <a:solidFill>
                  <a:srgbClr val="CBD5E1"/>
                </a:solidFill>
              </a:defRPr>
            </a:pPr>
            <a:r>
              <a:rPr dirty="0"/>
              <a:t> Kaggle.com (Titanic, Housing, </a:t>
            </a:r>
            <a:r>
              <a:rPr dirty="0" err="1"/>
              <a:t>etc</a:t>
            </a:r>
            <a:r>
              <a:rPr dirty="0"/>
              <a:t>)</a:t>
            </a:r>
          </a:p>
          <a:p>
            <a:pPr marL="539750" indent="-180975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>
                <a:solidFill>
                  <a:srgbClr val="CBD5E1"/>
                </a:solidFill>
              </a:defRPr>
            </a:pPr>
            <a:r>
              <a:rPr dirty="0"/>
              <a:t> UCI Machine Learning Repository</a:t>
            </a:r>
          </a:p>
          <a:p>
            <a:pPr marL="539750" indent="-180975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>
                <a:solidFill>
                  <a:srgbClr val="CBD5E1"/>
                </a:solidFill>
              </a:defRPr>
            </a:pPr>
            <a:r>
              <a:rPr dirty="0"/>
              <a:t> </a:t>
            </a:r>
            <a:r>
              <a:rPr dirty="0" err="1"/>
              <a:t>sklearn.datasets</a:t>
            </a:r>
            <a:r>
              <a:rPr dirty="0"/>
              <a:t> built-in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1078</TotalTime>
  <Words>4392</Words>
  <Application>Microsoft Office PowerPoint</Application>
  <PresentationFormat>Presentazione su schermo (16:9)</PresentationFormat>
  <Paragraphs>443</Paragraphs>
  <Slides>31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31</vt:i4>
      </vt:variant>
    </vt:vector>
  </HeadingPairs>
  <TitlesOfParts>
    <vt:vector size="37" baseType="lpstr">
      <vt:lpstr>Arial</vt:lpstr>
      <vt:lpstr>berkeleyMono</vt:lpstr>
      <vt:lpstr>Calibri</vt:lpstr>
      <vt:lpstr>Courier New</vt:lpstr>
      <vt:lpstr>fkGroteskNeue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speciale@socialcampus.onmicrosoft.com</dc:creator>
  <cp:keywords/>
  <dc:description>generated using python-pptx</dc:description>
  <cp:lastModifiedBy>Marino Speciale</cp:lastModifiedBy>
  <cp:revision>6</cp:revision>
  <dcterms:created xsi:type="dcterms:W3CDTF">2013-01-27T09:14:16Z</dcterms:created>
  <dcterms:modified xsi:type="dcterms:W3CDTF">2026-02-02T10:47:27Z</dcterms:modified>
  <cp:category/>
</cp:coreProperties>
</file>